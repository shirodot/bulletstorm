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5" r:id="rId7"/>
    <p:sldId id="260" r:id="rId8"/>
    <p:sldId id="261" r:id="rId9"/>
    <p:sldId id="262" r:id="rId10"/>
    <p:sldId id="263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990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一般敵人</c:v>
                </c:pt>
              </c:strCache>
            </c:strRef>
          </c:tx>
          <c:spPr>
            <a:solidFill>
              <a:srgbClr val="4F81BD">
                <a:alpha val="70196"/>
              </a:srgbClr>
            </a:solidFill>
            <a:ln>
              <a:noFill/>
            </a:ln>
            <a:effectLst/>
          </c:spPr>
          <c:invertIfNegative val="1"/>
          <c:cat>
            <c:strRef>
              <c:f>Sheet1!$A$2:$A$5</c:f>
              <c:strCache>
                <c:ptCount val="4"/>
                <c:pt idx="0">
                  <c:v>Easy</c:v>
                </c:pt>
                <c:pt idx="1">
                  <c:v>Normal</c:v>
                </c:pt>
                <c:pt idx="2">
                  <c:v>Hard</c:v>
                </c:pt>
                <c:pt idx="3">
                  <c:v>Lunatic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1.2</c:v>
                </c:pt>
                <c:pt idx="1">
                  <c:v>1.7</c:v>
                </c:pt>
                <c:pt idx="2">
                  <c:v>2.2000000000000002</c:v>
                </c:pt>
                <c:pt idx="3">
                  <c:v>2.8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0-ACF5-4F13-96BF-C44FCCF7545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Boss 戰</c:v>
                </c:pt>
              </c:strCache>
            </c:strRef>
          </c:tx>
          <c:spPr>
            <a:solidFill>
              <a:srgbClr val="C0504D">
                <a:alpha val="70196"/>
              </a:srgbClr>
            </a:solidFill>
            <a:ln>
              <a:noFill/>
            </a:ln>
            <a:effectLst/>
          </c:spPr>
          <c:invertIfNegative val="1"/>
          <c:cat>
            <c:strRef>
              <c:f>Sheet1!$A$2:$A$5</c:f>
              <c:strCache>
                <c:ptCount val="4"/>
                <c:pt idx="0">
                  <c:v>Easy</c:v>
                </c:pt>
                <c:pt idx="1">
                  <c:v>Normal</c:v>
                </c:pt>
                <c:pt idx="2">
                  <c:v>Hard</c:v>
                </c:pt>
                <c:pt idx="3">
                  <c:v>Lunatic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2.5</c:v>
                </c:pt>
                <c:pt idx="1">
                  <c:v>3.8</c:v>
                </c:pt>
                <c:pt idx="2">
                  <c:v>5.2</c:v>
                </c:pt>
                <c:pt idx="3">
                  <c:v>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1-ACF5-4F13-96BF-C44FCCF754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2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-2068027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023360" y="2011679"/>
            <a:ext cx="1097280" cy="1097280"/>
          </a:xfrm>
          <a:prstGeom prst="ellipse">
            <a:avLst/>
          </a:prstGeom>
          <a:noFill/>
          <a:ln w="12700">
            <a:solidFill>
              <a:srgbClr val="501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794760" y="1783079"/>
            <a:ext cx="1554480" cy="1554480"/>
          </a:xfrm>
          <a:prstGeom prst="ellipse">
            <a:avLst/>
          </a:prstGeom>
          <a:noFill/>
          <a:ln w="12700">
            <a:solidFill>
              <a:srgbClr val="5A1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566160" y="1554479"/>
            <a:ext cx="2011680" cy="2011680"/>
          </a:xfrm>
          <a:prstGeom prst="ellipse">
            <a:avLst/>
          </a:prstGeom>
          <a:noFill/>
          <a:ln w="12700">
            <a:solidFill>
              <a:srgbClr val="641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Oval 4"/>
          <p:cNvSpPr/>
          <p:nvPr/>
        </p:nvSpPr>
        <p:spPr>
          <a:xfrm>
            <a:off x="3337560" y="1325879"/>
            <a:ext cx="2468880" cy="2468880"/>
          </a:xfrm>
          <a:prstGeom prst="ellipse">
            <a:avLst/>
          </a:prstGeom>
          <a:noFill/>
          <a:ln w="12700">
            <a:solidFill>
              <a:srgbClr val="6E23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108960" y="1097279"/>
            <a:ext cx="2926080" cy="2926080"/>
          </a:xfrm>
          <a:prstGeom prst="ellipse">
            <a:avLst/>
          </a:prstGeom>
          <a:noFill/>
          <a:ln w="12700">
            <a:solidFill>
              <a:srgbClr val="782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880360" y="868679"/>
            <a:ext cx="3383280" cy="3383280"/>
          </a:xfrm>
          <a:prstGeom prst="ellipse">
            <a:avLst/>
          </a:prstGeom>
          <a:noFill/>
          <a:ln w="12700">
            <a:solidFill>
              <a:srgbClr val="822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651760" y="640079"/>
            <a:ext cx="3840480" cy="3840480"/>
          </a:xfrm>
          <a:prstGeom prst="ellipse">
            <a:avLst/>
          </a:prstGeom>
          <a:noFill/>
          <a:ln w="12700">
            <a:solidFill>
              <a:srgbClr val="8C3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423160" y="411479"/>
            <a:ext cx="4297680" cy="4297680"/>
          </a:xfrm>
          <a:prstGeom prst="ellipse">
            <a:avLst/>
          </a:prstGeom>
          <a:noFill/>
          <a:ln w="12700">
            <a:solidFill>
              <a:srgbClr val="963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194560" y="182879"/>
            <a:ext cx="4754880" cy="4754880"/>
          </a:xfrm>
          <a:prstGeom prst="ellipse">
            <a:avLst/>
          </a:prstGeom>
          <a:noFill/>
          <a:ln w="12700">
            <a:solidFill>
              <a:srgbClr val="A03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965960" y="-45720"/>
            <a:ext cx="5212080" cy="5212080"/>
          </a:xfrm>
          <a:prstGeom prst="ellipse">
            <a:avLst/>
          </a:prstGeom>
          <a:noFill/>
          <a:ln w="12700">
            <a:solidFill>
              <a:srgbClr val="AA4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347472"/>
            <a:ext cx="2926080" cy="45720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34747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EAF8"/>
                </a:solidFill>
                <a:latin typeface="Calibri"/>
              </a:rPr>
              <a:t>BULLET STORM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0058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0EAF8"/>
                </a:solidFill>
                <a:latin typeface="Calibri"/>
              </a:rPr>
              <a:t>演算法設計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148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C77DFF"/>
                </a:solidFill>
                <a:latin typeface="Calibri"/>
              </a:rPr>
              <a:t>Algorithm Design &amp; Internal Mechanics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318107"/>
            <a:ext cx="8412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rgbClr val="8B80A8"/>
                </a:solidFill>
                <a:latin typeface="Calibri"/>
              </a:rPr>
              <a:t>1113405032 </a:t>
            </a:r>
            <a:r>
              <a:rPr lang="en-US" sz="1100" dirty="0" err="1">
                <a:solidFill>
                  <a:srgbClr val="8B80A8"/>
                </a:solidFill>
                <a:latin typeface="Calibri"/>
              </a:rPr>
              <a:t>資工二甲</a:t>
            </a:r>
            <a:r>
              <a:rPr lang="en-US" sz="1100" dirty="0">
                <a:solidFill>
                  <a:srgbClr val="8B80A8"/>
                </a:solidFill>
                <a:latin typeface="Calibri"/>
              </a:rPr>
              <a:t> </a:t>
            </a:r>
            <a:r>
              <a:rPr lang="en-US" sz="1100" b="0" i="0" dirty="0" err="1">
                <a:solidFill>
                  <a:srgbClr val="8B80A8"/>
                </a:solidFill>
                <a:latin typeface="Calibri"/>
              </a:rPr>
              <a:t>翁祺展</a:t>
            </a:r>
            <a:endParaRPr sz="1100" b="0" i="0" dirty="0">
              <a:solidFill>
                <a:srgbClr val="8B80A8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812280" y="3813048"/>
            <a:ext cx="187451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sz="1000" b="0" i="0" dirty="0">
              <a:solidFill>
                <a:srgbClr val="8B80A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EAF8"/>
                </a:solidFill>
                <a:latin typeface="Calibri"/>
              </a:rPr>
              <a:t>01  Project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EAF8"/>
                </a:solidFill>
                <a:latin typeface="Calibri"/>
              </a:rPr>
              <a:t>專案動機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89888"/>
            <a:ext cx="8412480" cy="749808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02920" y="1618488"/>
            <a:ext cx="292608" cy="292608"/>
          </a:xfrm>
          <a:prstGeom prst="ellipse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61848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0EAF8"/>
                </a:solidFill>
                <a:latin typeface="Calibri"/>
              </a:rPr>
              <a:t>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AF8"/>
                </a:solidFill>
                <a:latin typeface="Calibri"/>
              </a:rPr>
              <a:t>數學密集型運算挑戰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0A8"/>
                </a:solidFill>
                <a:latin typeface="Calibri"/>
              </a:rPr>
              <a:t>三角函數、向量、參數方程式在每幀執行數百次——60fps × 400 顆子彈 = 每秒 24,000 次物理計算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67712"/>
            <a:ext cx="8412480" cy="749808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02920" y="2496312"/>
            <a:ext cx="292608" cy="292608"/>
          </a:xfrm>
          <a:prstGeom prst="ellipse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49631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0EAF8"/>
                </a:solidFill>
                <a:latin typeface="Calibri"/>
              </a:rPr>
              <a:t>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340864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AF8"/>
                </a:solidFill>
                <a:latin typeface="Calibri"/>
              </a:rPr>
              <a:t>碰撞偵測的效能壓力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15184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0A8"/>
                </a:solidFill>
                <a:latin typeface="Calibri"/>
              </a:rPr>
              <a:t>子彈 × 玩家 × 敵人的 O(n²) 判定，需透過早期終止與延遲清除讓每幀維持在 1ms 以內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45536"/>
            <a:ext cx="8412480" cy="749808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02920" y="3374136"/>
            <a:ext cx="292608" cy="292608"/>
          </a:xfrm>
          <a:prstGeom prst="ellipse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37413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F0EAF8"/>
                </a:solidFill>
                <a:latin typeface="Calibri"/>
              </a:rPr>
              <a:t>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21868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AF8"/>
                </a:solidFill>
                <a:latin typeface="Calibri"/>
              </a:rPr>
              <a:t>敵人行為的演算法設計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493008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0A8"/>
                </a:solidFill>
                <a:latin typeface="Calibri"/>
              </a:rPr>
              <a:t>入場路徑、巡邏 AI、多階段射擊時機，全都需要有狀態的決策邏輯驅動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23360"/>
            <a:ext cx="8412480" cy="749808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02920" y="4251960"/>
            <a:ext cx="292608" cy="292608"/>
          </a:xfrm>
          <a:prstGeom prst="ellipse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425196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0EAF8"/>
                </a:solidFill>
                <a:latin typeface="Calibri"/>
              </a:rPr>
              <a:t>||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09651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AF8"/>
                </a:solidFill>
                <a:latin typeface="Calibri"/>
              </a:rPr>
              <a:t>難度的多維度平衡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37083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0A8"/>
                </a:solidFill>
                <a:latin typeface="Calibri"/>
              </a:rPr>
              <a:t>速度、數量、頻率三個軸同步調整，設計出難度曲線平滑遞增、不讓玩家感覺突然跳難的系統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80A8"/>
                </a:solidFill>
                <a:latin typeface="Calibri"/>
              </a:rPr>
              <a:t>目標：僅用標準 Java，以可組合的靜態演算法庫實現 8 種彈幕 × 4 種物理 × 5 種技能升級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EAF8"/>
                </a:solidFill>
                <a:latin typeface="Calibri"/>
              </a:rPr>
              <a:t>02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EAF8"/>
                </a:solidFill>
                <a:latin typeface="Calibri"/>
              </a:rPr>
              <a:t>核心類別架構與物件關係</a:t>
            </a:r>
          </a:p>
        </p:txBody>
      </p:sp>
      <p:sp>
        <p:nvSpPr>
          <p:cNvPr id="5" name="Rectangle 4"/>
          <p:cNvSpPr/>
          <p:nvPr/>
        </p:nvSpPr>
        <p:spPr>
          <a:xfrm>
            <a:off x="3520440" y="1555528"/>
            <a:ext cx="2286000" cy="77724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02736" y="1615627"/>
            <a:ext cx="2139696" cy="292608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93592" y="1619536"/>
            <a:ext cx="2139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 err="1">
                <a:solidFill>
                  <a:srgbClr val="0F0A1E"/>
                </a:solidFill>
                <a:latin typeface="Calibri"/>
              </a:rPr>
              <a:t>GamePanel</a:t>
            </a:r>
            <a:endParaRPr sz="1100" b="1" i="0" dirty="0">
              <a:solidFill>
                <a:srgbClr val="0F0A1E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11880" y="1957864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0EAF8"/>
                </a:solidFill>
                <a:latin typeface="Calibri"/>
              </a:rPr>
              <a:t>主迴圈 60fps
遊戲狀態管理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07742"/>
            <a:ext cx="2286000" cy="77724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" y="2571750"/>
            <a:ext cx="2139696" cy="2926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" y="2571750"/>
            <a:ext cx="2139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0A1E"/>
                </a:solidFill>
                <a:latin typeface="Calibri"/>
              </a:rPr>
              <a:t>BulletPattern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10078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0EAF8"/>
                </a:solidFill>
                <a:latin typeface="Calibri"/>
              </a:rPr>
              <a:t>8 種演算法庫
(static，無狀態)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2514600"/>
            <a:ext cx="2286000" cy="77724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93592" y="2578608"/>
            <a:ext cx="2139696" cy="292608"/>
          </a:xfrm>
          <a:prstGeom prst="rect">
            <a:avLst/>
          </a:prstGeom>
          <a:solidFill>
            <a:srgbClr val="F1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93592" y="2578608"/>
            <a:ext cx="2139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0A1E"/>
                </a:solidFill>
                <a:latin typeface="Calibri"/>
              </a:rPr>
              <a:t>Boss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91693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0EAF8"/>
                </a:solidFill>
                <a:latin typeface="Calibri"/>
              </a:rPr>
              <a:t>5 階段 Boss AI
呼叫 BulletPattern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514600"/>
            <a:ext cx="2286000" cy="77724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65392" y="2578608"/>
            <a:ext cx="2139696" cy="292608"/>
          </a:xfrm>
          <a:prstGeom prst="rect">
            <a:avLst/>
          </a:prstGeom>
          <a:solidFill>
            <a:srgbClr val="00B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65392" y="2578608"/>
            <a:ext cx="2139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0A1E"/>
                </a:solidFill>
                <a:latin typeface="Calibri"/>
              </a:rPr>
              <a:t>Enemy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291693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0EAF8"/>
                </a:solidFill>
                <a:latin typeface="Calibri"/>
              </a:rPr>
              <a:t>3 類敵人 + AI
自動生成與消失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605022"/>
            <a:ext cx="2286000" cy="77724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" y="3669030"/>
            <a:ext cx="2139696" cy="292608"/>
          </a:xfrm>
          <a:prstGeom prst="rect">
            <a:avLst/>
          </a:prstGeom>
          <a:solidFill>
            <a:srgbClr val="FEE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" y="3669030"/>
            <a:ext cx="2139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0A1E"/>
                </a:solidFill>
                <a:latin typeface="Calibri"/>
              </a:rPr>
              <a:t>Bullet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007358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0EAF8"/>
                </a:solidFill>
                <a:latin typeface="Calibri"/>
              </a:rPr>
              <a:t>通用子彈 type 0-3
所有子彈共用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0440" y="3611880"/>
            <a:ext cx="2286000" cy="77724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593592" y="3675888"/>
            <a:ext cx="2139696" cy="292608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93592" y="3675888"/>
            <a:ext cx="2139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0A1E"/>
                </a:solidFill>
                <a:latin typeface="Calibri"/>
              </a:rPr>
              <a:t>Player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401421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0EAF8"/>
                </a:solidFill>
                <a:latin typeface="Calibri"/>
              </a:rPr>
              <a:t>玩家控制
整合 EXP 系統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3611880"/>
            <a:ext cx="2286000" cy="77724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565392" y="3675888"/>
            <a:ext cx="2139696" cy="292608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65392" y="3675888"/>
            <a:ext cx="2139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0A1E"/>
                </a:solidFill>
                <a:latin typeface="Calibri"/>
              </a:rPr>
              <a:t>ExperienceSystem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79" y="401421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0EAF8"/>
                </a:solidFill>
                <a:latin typeface="Calibri"/>
              </a:rPr>
              <a:t>5 項技能
自動/手動升級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08760" y="3284982"/>
            <a:ext cx="18288" cy="32004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663440" y="3291840"/>
            <a:ext cx="18288" cy="32004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635240" y="3291840"/>
            <a:ext cx="18288" cy="32004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 flipV="1">
            <a:off x="1652589" y="1944147"/>
            <a:ext cx="1867852" cy="45719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80A8"/>
                </a:solidFill>
                <a:latin typeface="Calibri"/>
              </a:rPr>
              <a:t>BulletPattern 為純靜態工具類（無實例化），Enemy 與 Boss 傳入參數即回傳 List&lt;Bullet&gt;，達成演算法複用與解耦。　兩位具名 Boss：Commander Aurora、Engineer Chronos。</a:t>
            </a:r>
          </a:p>
        </p:txBody>
      </p:sp>
      <p:sp>
        <p:nvSpPr>
          <p:cNvPr id="41" name="Rectangle 35">
            <a:extLst>
              <a:ext uri="{FF2B5EF4-FFF2-40B4-BE49-F238E27FC236}">
                <a16:creationId xmlns:a16="http://schemas.microsoft.com/office/drawing/2014/main" id="{EAC7FDD4-B7C9-392E-D5C5-F3CA9469B5A5}"/>
              </a:ext>
            </a:extLst>
          </p:cNvPr>
          <p:cNvSpPr/>
          <p:nvPr/>
        </p:nvSpPr>
        <p:spPr>
          <a:xfrm flipV="1">
            <a:off x="5785676" y="1932194"/>
            <a:ext cx="1867852" cy="45719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34">
            <a:extLst>
              <a:ext uri="{FF2B5EF4-FFF2-40B4-BE49-F238E27FC236}">
                <a16:creationId xmlns:a16="http://schemas.microsoft.com/office/drawing/2014/main" id="{F41C6E1A-8DDD-4E17-64D2-5E0588C21FC6}"/>
              </a:ext>
            </a:extLst>
          </p:cNvPr>
          <p:cNvSpPr/>
          <p:nvPr/>
        </p:nvSpPr>
        <p:spPr>
          <a:xfrm>
            <a:off x="7635240" y="2122456"/>
            <a:ext cx="18288" cy="32004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34">
            <a:extLst>
              <a:ext uri="{FF2B5EF4-FFF2-40B4-BE49-F238E27FC236}">
                <a16:creationId xmlns:a16="http://schemas.microsoft.com/office/drawing/2014/main" id="{5147054C-D6C2-E2D2-3E10-8A66276820BE}"/>
              </a:ext>
            </a:extLst>
          </p:cNvPr>
          <p:cNvSpPr/>
          <p:nvPr/>
        </p:nvSpPr>
        <p:spPr>
          <a:xfrm>
            <a:off x="1524000" y="2133981"/>
            <a:ext cx="18288" cy="32004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EAF8"/>
                </a:solidFill>
                <a:latin typeface="Calibri"/>
              </a:rPr>
              <a:t>03 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EAF8"/>
                </a:solidFill>
                <a:latin typeface="Calibri"/>
              </a:rPr>
              <a:t>8 種彈幕生成演算法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89888"/>
            <a:ext cx="4251960" cy="768096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57200" y="1463040"/>
            <a:ext cx="256032" cy="256032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2646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AF8"/>
                </a:solidFill>
                <a:latin typeface="Calibri"/>
              </a:rPr>
              <a:t>環形爆散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0078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80A8"/>
                </a:solidFill>
                <a:latin typeface="Courier New"/>
              </a:rPr>
              <a:t>circularBurst()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426464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EE440"/>
                </a:solidFill>
                <a:latin typeface="Courier New"/>
              </a:rPr>
              <a:t>θᵢ = θ₀ + i×(2π/n)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700784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全向 n 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1389888"/>
            <a:ext cx="4251960" cy="768096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892040" y="1463040"/>
            <a:ext cx="256032" cy="256032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57800" y="142646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AF8"/>
                </a:solidFill>
                <a:latin typeface="Calibri"/>
              </a:rPr>
              <a:t>瞄準扇射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170078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80A8"/>
                </a:solidFill>
                <a:latin typeface="Courier New"/>
              </a:rPr>
              <a:t>aimedSpread()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1426464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EE440"/>
                </a:solidFill>
                <a:latin typeface="Courier New"/>
              </a:rPr>
              <a:t>base = atan2(Δy,Δx) ± spread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700784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鎖定玩家扇形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286000"/>
            <a:ext cx="4251960" cy="768096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57200" y="2359152"/>
            <a:ext cx="256032" cy="256032"/>
          </a:xfrm>
          <a:prstGeom prst="ellipse">
            <a:avLst/>
          </a:prstGeom>
          <a:solidFill>
            <a:srgbClr val="FEE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23225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AF8"/>
                </a:solidFill>
                <a:latin typeface="Calibri"/>
              </a:rPr>
              <a:t>雙環交轉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59689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80A8"/>
                </a:solidFill>
                <a:latin typeface="Courier New"/>
              </a:rPr>
              <a:t>doubleRing()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2322576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EE440"/>
                </a:solidFill>
                <a:latin typeface="Courier New"/>
              </a:rPr>
              <a:t>outer_v &gt; 0, inner_v &lt;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2596896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外快內慢對向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00600" y="2286000"/>
            <a:ext cx="4251960" cy="768096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892040" y="2359152"/>
            <a:ext cx="256032" cy="256032"/>
          </a:xfrm>
          <a:prstGeom prst="ellipse">
            <a:avLst/>
          </a:prstGeom>
          <a:solidFill>
            <a:srgbClr val="00B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57800" y="23225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AF8"/>
                </a:solidFill>
                <a:latin typeface="Calibri"/>
              </a:rPr>
              <a:t>螺旋臂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259689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80A8"/>
                </a:solidFill>
                <a:latin typeface="Courier New"/>
              </a:rPr>
              <a:t>spiralArm()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2322576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EE440"/>
                </a:solidFill>
                <a:latin typeface="Courier New"/>
              </a:rPr>
              <a:t>offset += Δθ per frame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2596896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每幀遞增旋轉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182112"/>
            <a:ext cx="4251960" cy="768096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57200" y="3255264"/>
            <a:ext cx="256032" cy="256032"/>
          </a:xfrm>
          <a:prstGeom prst="ellipse">
            <a:avLst/>
          </a:prstGeom>
          <a:solidFill>
            <a:srgbClr val="F1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321868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AF8"/>
                </a:solidFill>
                <a:latin typeface="Calibri"/>
              </a:rPr>
              <a:t>追蹤彈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349300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80A8"/>
                </a:solidFill>
                <a:latin typeface="Courier New"/>
              </a:rPr>
              <a:t>homingBullets()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3218688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EE440"/>
                </a:solidFill>
                <a:latin typeface="Courier New"/>
              </a:rPr>
              <a:t>angle += clamp(target - angle, ±0.05)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3493008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自動追蹤玩家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00600" y="3182112"/>
            <a:ext cx="4251960" cy="768096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4892040" y="3255264"/>
            <a:ext cx="256032" cy="256032"/>
          </a:xfrm>
          <a:prstGeom prst="ellipse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257800" y="321868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AF8"/>
                </a:solidFill>
                <a:latin typeface="Calibri"/>
              </a:rPr>
              <a:t>波動彈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57800" y="349300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80A8"/>
                </a:solidFill>
                <a:latin typeface="Courier New"/>
              </a:rPr>
              <a:t>waveBullets()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3218688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EE440"/>
                </a:solidFill>
                <a:latin typeface="Courier New"/>
              </a:rPr>
              <a:t>offset = sin(phase) × amp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3493008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蛇形軌跡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078224"/>
            <a:ext cx="4251960" cy="768096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457200" y="4151376"/>
            <a:ext cx="256032" cy="256032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2960" y="41148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AF8"/>
                </a:solidFill>
                <a:latin typeface="Calibri"/>
              </a:rPr>
              <a:t>星爆交錯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438912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80A8"/>
                </a:solidFill>
                <a:latin typeface="Courier New"/>
              </a:rPr>
              <a:t>starBurst()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77440" y="411480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EE440"/>
                </a:solidFill>
                <a:latin typeface="Courier New"/>
              </a:rPr>
              <a:t>i%2==0→fast, i%2==1→slow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77440" y="4389120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交替速度環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00600" y="4078224"/>
            <a:ext cx="4251960" cy="768096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4892040" y="4151376"/>
            <a:ext cx="256032" cy="256032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257800" y="41148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AF8"/>
                </a:solidFill>
                <a:latin typeface="Calibri"/>
              </a:rPr>
              <a:t>蝴蝶散射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57800" y="438912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80A8"/>
                </a:solidFill>
                <a:latin typeface="Courier New"/>
              </a:rPr>
              <a:t>butterflySpray()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12280" y="411480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EE440"/>
                </a:solidFill>
                <a:latin typeface="Courier New"/>
              </a:rPr>
              <a:t>spread = sin(t) × π × 0.4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4389120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蝴蝶型 8 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8B80A8"/>
                </a:solidFill>
                <a:latin typeface="Calibri"/>
              </a:rPr>
              <a:t>＊以上 8 種為遊戲實際啟用；另有 aimFan / spinningRing / accelBurst / laserBarrage / sakuraPetal 共 5 種已實作、暫未啟用（BulletPattern 共 13 種）。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37160"/>
            <a:ext cx="2743200" cy="347472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EAF8"/>
                </a:solidFill>
                <a:latin typeface="Calibri"/>
              </a:rPr>
              <a:t>03 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0624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0EAF8"/>
                </a:solidFill>
                <a:latin typeface="Calibri"/>
              </a:rPr>
              <a:t>演算法實機畫面：8 </a:t>
            </a:r>
            <a:r>
              <a:rPr sz="2600" b="1" i="0" dirty="0" err="1">
                <a:solidFill>
                  <a:srgbClr val="F0EAF8"/>
                </a:solidFill>
                <a:latin typeface="Calibri"/>
              </a:rPr>
              <a:t>種彈幕</a:t>
            </a:r>
            <a:endParaRPr sz="2600" b="1" i="0" dirty="0">
              <a:solidFill>
                <a:srgbClr val="F0EAF8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1024128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C77DFF"/>
                </a:solidFill>
                <a:latin typeface="Calibri"/>
              </a:rPr>
              <a:t>以下皆由遊戲原始</a:t>
            </a:r>
            <a:r>
              <a:rPr sz="1200" b="0" i="0" dirty="0">
                <a:solidFill>
                  <a:srgbClr val="C77DFF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C77DFF"/>
                </a:solidFill>
                <a:latin typeface="Calibri"/>
              </a:rPr>
              <a:t>BulletPattern</a:t>
            </a:r>
            <a:r>
              <a:rPr sz="1200" b="0" i="0" dirty="0">
                <a:solidFill>
                  <a:srgbClr val="C77DFF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C77DFF"/>
                </a:solidFill>
                <a:latin typeface="Calibri"/>
              </a:rPr>
              <a:t>演算法即時渲染，套用遊戲相同的發光彈芯繪製</a:t>
            </a:r>
            <a:r>
              <a:rPr sz="1200" b="0" i="0" dirty="0">
                <a:solidFill>
                  <a:srgbClr val="C77DFF"/>
                </a:solidFill>
                <a:latin typeface="Calibri"/>
              </a:rPr>
              <a:t>。</a:t>
            </a:r>
          </a:p>
        </p:txBody>
      </p:sp>
      <p:pic>
        <p:nvPicPr>
          <p:cNvPr id="6" name="Picture 5" descr="00_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035" y="1303614"/>
            <a:ext cx="7111671" cy="35803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899456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B80A8"/>
                </a:solidFill>
                <a:latin typeface="Calibri"/>
              </a:rPr>
              <a:t>環形爆散 · 瞄準扇射 · 雙環交轉 · 螺旋臂　|　追蹤彈 · 波動彈 · 星爆交錯 · 蝴蝶散射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37160"/>
            <a:ext cx="2743200" cy="347472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EAF8"/>
                </a:solidFill>
                <a:latin typeface="Calibri"/>
              </a:rPr>
              <a:t>03 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EAF8"/>
                </a:solidFill>
                <a:latin typeface="Calibri"/>
              </a:rPr>
              <a:t>重點演算法特寫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706624" cy="338328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1_circularBur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481328"/>
            <a:ext cx="2194560" cy="219456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493776" y="3794759"/>
            <a:ext cx="182880" cy="182880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3739895"/>
            <a:ext cx="2249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EAF8"/>
                </a:solidFill>
                <a:latin typeface="Calibri"/>
              </a:rPr>
              <a:t>環形爆散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4059935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EE440"/>
                </a:solidFill>
                <a:latin typeface="Courier New"/>
              </a:rPr>
              <a:t>θᵢ = θ₀ + i×(2π/n)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4334255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80A8"/>
                </a:solidFill>
                <a:latin typeface="Calibri"/>
              </a:rPr>
              <a:t>n 發等角灑成整圈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72968" y="1371600"/>
            <a:ext cx="2706624" cy="338328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04_spiralA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481328"/>
            <a:ext cx="2194560" cy="219456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3300984" y="3794759"/>
            <a:ext cx="182880" cy="182880"/>
          </a:xfrm>
          <a:prstGeom prst="ellipse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57015" y="3739895"/>
            <a:ext cx="2249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EAF8"/>
                </a:solidFill>
                <a:latin typeface="Calibri"/>
              </a:rPr>
              <a:t>螺旋臂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9272" y="4059935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EE440"/>
                </a:solidFill>
                <a:latin typeface="Courier New"/>
              </a:rPr>
              <a:t>offset += Δθ / frame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9272" y="4334255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80A8"/>
                </a:solidFill>
                <a:latin typeface="Calibri"/>
              </a:rPr>
              <a:t>逐幀偏移→旋轉螺旋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0176" y="1371600"/>
            <a:ext cx="2706624" cy="338328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05_homingBulle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1481328"/>
            <a:ext cx="2194560" cy="2194560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6108192" y="3794759"/>
            <a:ext cx="182880" cy="182880"/>
          </a:xfrm>
          <a:prstGeom prst="ellipse">
            <a:avLst/>
          </a:prstGeom>
          <a:solidFill>
            <a:srgbClr val="F1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64224" y="3739895"/>
            <a:ext cx="2249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EAF8"/>
                </a:solidFill>
                <a:latin typeface="Calibri"/>
              </a:rPr>
              <a:t>追蹤彈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059935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EE440"/>
                </a:solidFill>
                <a:latin typeface="Courier New"/>
              </a:rPr>
              <a:t>angle += clamp(target - a, ±0.05)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334255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80A8"/>
                </a:solidFill>
                <a:latin typeface="Calibri"/>
              </a:rPr>
              <a:t>每幀朝玩家修正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882896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80A8"/>
                </a:solidFill>
                <a:latin typeface="Calibri"/>
              </a:rPr>
              <a:t>螺旋臂為連續多幀疊加結果；追蹤彈呈現朝右下角玩家收斂的彎曲軌跡。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EAF8"/>
                </a:solidFill>
                <a:latin typeface="Calibri"/>
              </a:rPr>
              <a:t>03 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EAF8"/>
                </a:solidFill>
                <a:latin typeface="Calibri"/>
              </a:rPr>
              <a:t>子彈物理模式與 EXP 升級系統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89888"/>
            <a:ext cx="4160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77DFF"/>
                </a:solidFill>
                <a:latin typeface="Calibri"/>
              </a:rPr>
              <a:t>4 種子彈運動模式（Bullet.type 欄位）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55648"/>
            <a:ext cx="4160520" cy="694944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640080" cy="274320"/>
          </a:xfrm>
          <a:prstGeom prst="rect">
            <a:avLst/>
          </a:prstGeom>
          <a:solidFill>
            <a:srgbClr val="00B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0A1E"/>
                </a:solidFill>
                <a:latin typeface="Calibri"/>
              </a:rPr>
              <a:t>type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8105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AF8"/>
                </a:solidFill>
                <a:latin typeface="Calibri"/>
              </a:rPr>
              <a:t>直線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1810512"/>
            <a:ext cx="2377440" cy="585216"/>
          </a:xfrm>
          <a:prstGeom prst="rect">
            <a:avLst/>
          </a:prstGeom>
          <a:solidFill>
            <a:srgbClr val="0A0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84831" y="184708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5D4"/>
                </a:solidFill>
                <a:latin typeface="Courier New"/>
              </a:rPr>
              <a:t>x += vx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4831" y="2084832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5D4"/>
                </a:solidFill>
                <a:latin typeface="Courier New"/>
              </a:rPr>
              <a:t>y += vy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21284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80A8"/>
                </a:solidFill>
                <a:latin typeface="Calibri"/>
              </a:rPr>
              <a:t>等速直線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78608"/>
            <a:ext cx="4160520" cy="694944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651760"/>
            <a:ext cx="640080" cy="274320"/>
          </a:xfrm>
          <a:prstGeom prst="rect">
            <a:avLst/>
          </a:prstGeom>
          <a:solidFill>
            <a:srgbClr val="F1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6517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0A1E"/>
                </a:solidFill>
                <a:latin typeface="Calibri"/>
              </a:rPr>
              <a:t>type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6334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AF8"/>
                </a:solidFill>
                <a:latin typeface="Calibri"/>
              </a:rPr>
              <a:t>追蹤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2633472"/>
            <a:ext cx="2377440" cy="585216"/>
          </a:xfrm>
          <a:prstGeom prst="rect">
            <a:avLst/>
          </a:prstGeom>
          <a:solidFill>
            <a:srgbClr val="0A0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84831" y="267004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5D4"/>
                </a:solidFill>
                <a:latin typeface="Courier New"/>
              </a:rPr>
              <a:t>angle → atan2(target)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84831" y="2907791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5D4"/>
                </a:solidFill>
                <a:latin typeface="Courier New"/>
              </a:rPr>
              <a:t>clamp(Δangle, ±ω)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03580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80A8"/>
                </a:solidFill>
                <a:latin typeface="Calibri"/>
              </a:rPr>
              <a:t>漸進轉向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401568"/>
            <a:ext cx="4160520" cy="694944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474720"/>
            <a:ext cx="640080" cy="27432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4747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0A1E"/>
                </a:solidFill>
                <a:latin typeface="Calibri"/>
              </a:rPr>
              <a:t>type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4564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AF8"/>
                </a:solidFill>
                <a:latin typeface="Calibri"/>
              </a:rPr>
              <a:t>波動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0" y="3456432"/>
            <a:ext cx="2377440" cy="585216"/>
          </a:xfrm>
          <a:prstGeom prst="rect">
            <a:avLst/>
          </a:prstGeom>
          <a:solidFill>
            <a:srgbClr val="0A0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084831" y="349300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5D4"/>
                </a:solidFill>
                <a:latin typeface="Courier New"/>
              </a:rPr>
              <a:t>phase += freq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84831" y="3730752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5D4"/>
                </a:solidFill>
                <a:latin typeface="Courier New"/>
              </a:rPr>
              <a:t>perp = sin(phase)×amp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385876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80A8"/>
                </a:solidFill>
                <a:latin typeface="Calibri"/>
              </a:rPr>
              <a:t>正弦側移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224528"/>
            <a:ext cx="4160520" cy="694944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4297680"/>
            <a:ext cx="640080" cy="274320"/>
          </a:xfrm>
          <a:prstGeom prst="rect">
            <a:avLst/>
          </a:prstGeom>
          <a:solidFill>
            <a:srgbClr val="FEE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42976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0A1E"/>
                </a:solidFill>
                <a:latin typeface="Calibri"/>
              </a:rPr>
              <a:t>type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427939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AF8"/>
                </a:solidFill>
                <a:latin typeface="Calibri"/>
              </a:rPr>
              <a:t>加速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0" y="4279392"/>
            <a:ext cx="2377440" cy="585216"/>
          </a:xfrm>
          <a:prstGeom prst="rect">
            <a:avLst/>
          </a:prstGeom>
          <a:solidFill>
            <a:srgbClr val="0A0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084831" y="431596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5D4"/>
                </a:solidFill>
                <a:latin typeface="Courier New"/>
              </a:rPr>
              <a:t>speed += accel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84831" y="4553712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5D4"/>
                </a:solidFill>
                <a:latin typeface="Courier New"/>
              </a:rPr>
              <a:t>vx,vy 依 speed 更新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468172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80A8"/>
                </a:solidFill>
                <a:latin typeface="Calibri"/>
              </a:rPr>
              <a:t>可負 accel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60" y="1389888"/>
            <a:ext cx="4069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77DFF"/>
                </a:solidFill>
                <a:latin typeface="Calibri"/>
              </a:rPr>
              <a:t>EXP 升級系統（5 項技能樹）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9160" y="175564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升級所需：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737360"/>
            <a:ext cx="2633472" cy="310896"/>
          </a:xfrm>
          <a:prstGeom prst="rect">
            <a:avLst/>
          </a:prstGeom>
          <a:solidFill>
            <a:srgbClr val="0A0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72200" y="1755648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5D4"/>
                </a:solidFill>
                <a:latin typeface="Courier New"/>
              </a:rPr>
              <a:t>expNext = 1000 + level × 500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09160" y="212140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擊殺 EXP：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2103120"/>
            <a:ext cx="2633472" cy="310896"/>
          </a:xfrm>
          <a:prstGeom prst="rect">
            <a:avLst/>
          </a:prstGeom>
          <a:solidFill>
            <a:srgbClr val="0A0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72200" y="2121408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7CC99"/>
                </a:solidFill>
                <a:latin typeface="Courier New"/>
              </a:rPr>
              <a:t>50 × (type+1) × (diff+1)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09160" y="248716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Boss EXP：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2468879"/>
            <a:ext cx="2633472" cy="310896"/>
          </a:xfrm>
          <a:prstGeom prst="rect">
            <a:avLst/>
          </a:prstGeom>
          <a:solidFill>
            <a:srgbClr val="0A0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172200" y="2487168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EE440"/>
                </a:solidFill>
                <a:latin typeface="Courier New"/>
              </a:rPr>
              <a:t>5000×(diff+1) 擊殺／100×(diff+1) 命中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09160" y="28529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刷掠 EXP：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2834640"/>
            <a:ext cx="2633472" cy="310896"/>
          </a:xfrm>
          <a:prstGeom prst="rect">
            <a:avLst/>
          </a:prstGeom>
          <a:solidFill>
            <a:srgbClr val="0A0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172200" y="2852928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BF9"/>
                </a:solidFill>
                <a:latin typeface="Courier New"/>
              </a:rPr>
              <a:t>5 / bullet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09160" y="321868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射速技能：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3200400"/>
            <a:ext cx="2633472" cy="310896"/>
          </a:xfrm>
          <a:prstGeom prst="rect">
            <a:avLst/>
          </a:prstGeom>
          <a:solidFill>
            <a:srgbClr val="0A0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172200" y="3218688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77DFF"/>
                </a:solidFill>
                <a:latin typeface="Courier New"/>
              </a:rPr>
              <a:t>speed × (1.0 + lvl×0.15)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09160" y="358444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射頻技能：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3566160"/>
            <a:ext cx="2633472" cy="310896"/>
          </a:xfrm>
          <a:prstGeom prst="rect">
            <a:avLst/>
          </a:prstGeom>
          <a:solidFill>
            <a:srgbClr val="0A0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172200" y="3584448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15BB5"/>
                </a:solidFill>
                <a:latin typeface="Courier New"/>
              </a:rPr>
              <a:t>cooldown -= lvl×2  (min 2)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09160" y="395020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生命技能：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3931920"/>
            <a:ext cx="2633472" cy="310896"/>
          </a:xfrm>
          <a:prstGeom prst="rect">
            <a:avLst/>
          </a:prstGeom>
          <a:solidFill>
            <a:srgbClr val="0A0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172200" y="3950208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7CC99"/>
                </a:solidFill>
                <a:latin typeface="Courier New"/>
              </a:rPr>
              <a:t>max_life += lvl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09160" y="431596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炸彈技能：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08192" y="4297680"/>
            <a:ext cx="2633472" cy="310896"/>
          </a:xfrm>
          <a:prstGeom prst="rect">
            <a:avLst/>
          </a:prstGeom>
          <a:solidFill>
            <a:srgbClr val="0A0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172200" y="4315968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EE440"/>
                </a:solidFill>
                <a:latin typeface="Courier New"/>
              </a:rPr>
              <a:t>bomb_dmg × (1+lvl×0.2)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09160" y="46817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刷掠技能：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4663440"/>
            <a:ext cx="2633472" cy="310896"/>
          </a:xfrm>
          <a:prstGeom prst="rect">
            <a:avLst/>
          </a:prstGeom>
          <a:solidFill>
            <a:srgbClr val="0A0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172200" y="4681728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5D4"/>
                </a:solidFill>
                <a:latin typeface="Courier New"/>
              </a:rPr>
              <a:t>graze_r × (1+lvl×0.1)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" y="4937760"/>
            <a:ext cx="4297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i="1">
                <a:solidFill>
                  <a:srgbClr val="8B80A8"/>
                </a:solidFill>
                <a:latin typeface="Calibri"/>
              </a:rPr>
              <a:t>＊type 0–2 於遊戲即時運作；type 3（加速，可為負 accel）已實作，目前保留作擴充。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EAF8"/>
                </a:solidFill>
                <a:latin typeface="Calibri"/>
              </a:rPr>
              <a:t>03 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EAF8"/>
                </a:solidFill>
                <a:latin typeface="Calibri"/>
              </a:rPr>
              <a:t>敵人 AI 生命週期管理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89888"/>
            <a:ext cx="969264" cy="96012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9224" y="1481328"/>
            <a:ext cx="402336" cy="402336"/>
          </a:xfrm>
          <a:prstGeom prst="ellipse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148132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0A1E"/>
                </a:solidFill>
                <a:latin typeface="Calibri"/>
              </a:rPr>
              <a:t>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1993392"/>
            <a:ext cx="896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 dirty="0">
                <a:solidFill>
                  <a:srgbClr val="8B80A8"/>
                </a:solidFill>
                <a:latin typeface="Courier New"/>
              </a:rPr>
              <a:t>age = -(i×15)
</a:t>
            </a:r>
            <a:r>
              <a:rPr sz="850" b="0" i="0" dirty="0" err="1">
                <a:solidFill>
                  <a:srgbClr val="8B80A8"/>
                </a:solidFill>
                <a:latin typeface="Courier New"/>
              </a:rPr>
              <a:t>錯開入場</a:t>
            </a:r>
            <a:endParaRPr sz="850" b="0" i="0" dirty="0">
              <a:solidFill>
                <a:srgbClr val="8B80A8"/>
              </a:solidFill>
              <a:latin typeface="Courier New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335024" y="1828800"/>
            <a:ext cx="91440" cy="18288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426464" y="1389888"/>
            <a:ext cx="969264" cy="96012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709928" y="1481328"/>
            <a:ext cx="402336" cy="402336"/>
          </a:xfrm>
          <a:prstGeom prst="ellipse">
            <a:avLst/>
          </a:prstGeom>
          <a:solidFill>
            <a:srgbClr val="00B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709928" y="148132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0A1E"/>
                </a:solidFill>
                <a:latin typeface="Calibri"/>
              </a:rPr>
              <a:t>進場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993392"/>
            <a:ext cx="896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B80A8"/>
                </a:solidFill>
                <a:latin typeface="Courier New"/>
              </a:rPr>
              <a:t>age &lt; 60
依 vx/vy 飛入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5728" y="1828800"/>
            <a:ext cx="91440" cy="18288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487168" y="1389888"/>
            <a:ext cx="969264" cy="96012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770632" y="1481328"/>
            <a:ext cx="402336" cy="402336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70632" y="148132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0A1E"/>
                </a:solidFill>
                <a:latin typeface="Calibri"/>
              </a:rPr>
              <a:t>減速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23744" y="1993392"/>
            <a:ext cx="896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B80A8"/>
                </a:solidFill>
                <a:latin typeface="Courier New"/>
              </a:rPr>
              <a:t>60 ≤ age &lt; 120
vx,vy *= 0.95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56432" y="1828800"/>
            <a:ext cx="91440" cy="18288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547871" y="1389888"/>
            <a:ext cx="969264" cy="96012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831335" y="1481328"/>
            <a:ext cx="402336" cy="402336"/>
          </a:xfrm>
          <a:prstGeom prst="ellipse">
            <a:avLst/>
          </a:prstGeom>
          <a:solidFill>
            <a:srgbClr val="FEE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31335" y="148132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0A1E"/>
                </a:solidFill>
                <a:latin typeface="Calibri"/>
              </a:rPr>
              <a:t>巡邏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4447" y="1993392"/>
            <a:ext cx="896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B80A8"/>
                </a:solidFill>
                <a:latin typeface="Courier New"/>
              </a:rPr>
              <a:t>age ≥ 120
sin(t)×40 擺動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17136" y="1828800"/>
            <a:ext cx="91440" cy="18288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08576" y="1389888"/>
            <a:ext cx="969264" cy="96012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892040" y="1481328"/>
            <a:ext cx="402336" cy="402336"/>
          </a:xfrm>
          <a:prstGeom prst="ellipse">
            <a:avLst/>
          </a:prstGeom>
          <a:solidFill>
            <a:srgbClr val="F1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92040" y="148132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0A1E"/>
                </a:solidFill>
                <a:latin typeface="Calibri"/>
              </a:rPr>
              <a:t>消失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1993392"/>
            <a:ext cx="896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B80A8"/>
                </a:solidFill>
                <a:latin typeface="Courier New"/>
              </a:rPr>
              <a:t>age ≥ maxAge
active = false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2514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AF8"/>
                </a:solidFill>
                <a:latin typeface="Calibri"/>
              </a:rPr>
              <a:t>各敵人存活時間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65760" y="2834640"/>
          <a:ext cx="47548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0A1E"/>
                          </a:solidFill>
                          <a:latin typeface="Calibri"/>
                        </a:rPr>
                        <a:t>敵人類型</a:t>
                      </a:r>
                    </a:p>
                  </a:txBody>
                  <a:tcPr>
                    <a:solidFill>
                      <a:srgbClr val="9B5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0A1E"/>
                          </a:solidFill>
                          <a:latin typeface="Calibri"/>
                        </a:rPr>
                        <a:t>maxAge (幀)</a:t>
                      </a:r>
                    </a:p>
                  </a:txBody>
                  <a:tcPr>
                    <a:solidFill>
                      <a:srgbClr val="9B5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0A1E"/>
                          </a:solidFill>
                          <a:latin typeface="Calibri"/>
                        </a:rPr>
                        <a:t>存活秒數</a:t>
                      </a:r>
                    </a:p>
                  </a:txBody>
                  <a:tcPr>
                    <a:solidFill>
                      <a:srgbClr val="9B5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0A1E"/>
                          </a:solidFill>
                          <a:latin typeface="Calibri"/>
                        </a:rPr>
                        <a:t>射擊間隔</a:t>
                      </a:r>
                    </a:p>
                  </a:txBody>
                  <a:tcPr>
                    <a:solidFill>
                      <a:srgbClr val="9B5D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0EAF8"/>
                          </a:solidFill>
                          <a:latin typeface="Calibri"/>
                        </a:rPr>
                        <a:t>type 0 仙子</a:t>
                      </a:r>
                    </a:p>
                  </a:txBody>
                  <a:tcPr>
                    <a:solidFill>
                      <a:srgbClr val="1A1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0EAF8"/>
                          </a:solidFill>
                          <a:latin typeface="Calibri"/>
                        </a:rPr>
                        <a:t>480</a:t>
                      </a:r>
                    </a:p>
                  </a:txBody>
                  <a:tcPr>
                    <a:solidFill>
                      <a:srgbClr val="1A1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0EAF8"/>
                          </a:solidFill>
                          <a:latin typeface="Calibri"/>
                        </a:rPr>
                        <a:t>8.0 秒</a:t>
                      </a:r>
                    </a:p>
                  </a:txBody>
                  <a:tcPr>
                    <a:solidFill>
                      <a:srgbClr val="1A1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0EAF8"/>
                          </a:solidFill>
                          <a:latin typeface="Calibri"/>
                        </a:rPr>
                        <a:t>100 幀</a:t>
                      </a:r>
                    </a:p>
                  </a:txBody>
                  <a:tcPr>
                    <a:solidFill>
                      <a:srgbClr val="1A1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0EAF8"/>
                          </a:solidFill>
                          <a:latin typeface="Calibri"/>
                        </a:rPr>
                        <a:t>type 1 妖怪</a:t>
                      </a:r>
                    </a:p>
                  </a:txBody>
                  <a:tcPr>
                    <a:solidFill>
                      <a:srgbClr val="1A1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0EAF8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>
                    <a:solidFill>
                      <a:srgbClr val="1A1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0EAF8"/>
                          </a:solidFill>
                          <a:latin typeface="Calibri"/>
                        </a:rPr>
                        <a:t>10.0 秒</a:t>
                      </a:r>
                    </a:p>
                  </a:txBody>
                  <a:tcPr>
                    <a:solidFill>
                      <a:srgbClr val="1A1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0EAF8"/>
                          </a:solidFill>
                          <a:latin typeface="Calibri"/>
                        </a:rPr>
                        <a:t>90 幀</a:t>
                      </a:r>
                    </a:p>
                  </a:txBody>
                  <a:tcPr>
                    <a:solidFill>
                      <a:srgbClr val="1A1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0EAF8"/>
                          </a:solidFill>
                          <a:latin typeface="Calibri"/>
                        </a:rPr>
                        <a:t>type 2 頭目</a:t>
                      </a:r>
                    </a:p>
                  </a:txBody>
                  <a:tcPr>
                    <a:solidFill>
                      <a:srgbClr val="1A1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0EAF8"/>
                          </a:solidFill>
                          <a:latin typeface="Calibri"/>
                        </a:rPr>
                        <a:t>720</a:t>
                      </a:r>
                    </a:p>
                  </a:txBody>
                  <a:tcPr>
                    <a:solidFill>
                      <a:srgbClr val="1A1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0EAF8"/>
                          </a:solidFill>
                          <a:latin typeface="Calibri"/>
                        </a:rPr>
                        <a:t>12.0 秒</a:t>
                      </a:r>
                    </a:p>
                  </a:txBody>
                  <a:tcPr>
                    <a:solidFill>
                      <a:srgbClr val="1A1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0EAF8"/>
                          </a:solidFill>
                          <a:latin typeface="Calibri"/>
                        </a:rPr>
                        <a:t>70 幀</a:t>
                      </a:r>
                    </a:p>
                  </a:txBody>
                  <a:tcPr>
                    <a:solidFill>
                      <a:srgbClr val="1A1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5760720" y="1389888"/>
            <a:ext cx="3017520" cy="2816352"/>
          </a:xfrm>
          <a:prstGeom prst="rect">
            <a:avLst/>
          </a:prstGeom>
          <a:solidFill>
            <a:srgbClr val="130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852160" y="146304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F5D4"/>
                </a:solidFill>
                <a:latin typeface="Calibri"/>
              </a:rPr>
              <a:t>錯開生成演算法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1828800"/>
            <a:ext cx="285292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00F5D4"/>
                </a:solidFill>
                <a:latin typeface="Courier New"/>
              </a:rPr>
              <a:t>for (int i = 0; i &lt; n; i++) {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2020824"/>
            <a:ext cx="285292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00F5D4"/>
                </a:solidFill>
                <a:latin typeface="Courier New"/>
              </a:rPr>
              <a:t>  Enemy en = new Enemy(...);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2212848"/>
            <a:ext cx="285292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00F5D4"/>
                </a:solidFill>
                <a:latin typeface="Courier New"/>
              </a:rPr>
              <a:t>  en.age = -(i * 15);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2404872"/>
            <a:ext cx="285292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8B80A8"/>
                </a:solidFill>
                <a:latin typeface="Courier New"/>
              </a:rPr>
              <a:t>  // 每隻差 15 幀入場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0" y="2596896"/>
            <a:ext cx="285292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00F5D4"/>
                </a:solidFill>
                <a:latin typeface="Courier New"/>
              </a:rPr>
              <a:t>  enemies.add(en);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2788920"/>
            <a:ext cx="285292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00F5D4"/>
                </a:solidFill>
                <a:latin typeface="Courier New"/>
              </a:rPr>
              <a:t>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0" y="2980944"/>
            <a:ext cx="285292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8B80A8"/>
                </a:solidFill>
                <a:latin typeface="Courier New"/>
              </a:rPr>
              <a:t>// update() 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60" y="3172968"/>
            <a:ext cx="285292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00F5D4"/>
                </a:solidFill>
                <a:latin typeface="Courier New"/>
              </a:rPr>
              <a:t>if (age &lt;= 0) return;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0" y="3364991"/>
            <a:ext cx="285292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00F5D4"/>
                </a:solidFill>
                <a:latin typeface="Courier New"/>
              </a:rPr>
              <a:t>if (age &gt;= maxAge) {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0" y="3557015"/>
            <a:ext cx="285292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00F5D4"/>
                </a:solidFill>
                <a:latin typeface="Courier New"/>
              </a:rPr>
              <a:t>  active = false;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3749039"/>
            <a:ext cx="285292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00F5D4"/>
                </a:solidFill>
                <a:latin typeface="Courier New"/>
              </a:rPr>
              <a:t>}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4846320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8B80A8"/>
                </a:solidFill>
                <a:latin typeface="Calibri"/>
              </a:rPr>
              <a:t>＊巡邏：x = entryX + sin(t)×40，y = entryY+60 + sin(t·½)×15；減速階段 vx、vy 同乘 0.95。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EAF8"/>
                </a:solidFill>
                <a:latin typeface="Calibri"/>
              </a:rPr>
              <a:t>04  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EAF8"/>
                </a:solidFill>
                <a:latin typeface="Calibri"/>
              </a:rPr>
              <a:t>實驗結果：效能與難度平衡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8988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AF8"/>
                </a:solidFill>
                <a:latin typeface="Calibri"/>
              </a:rPr>
              <a:t>各難度每秒產生子彈數量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173928"/>
              </p:ext>
            </p:extLst>
          </p:nvPr>
        </p:nvGraphicFramePr>
        <p:xfrm>
          <a:off x="365760" y="1737360"/>
          <a:ext cx="50292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5577840" y="1389888"/>
            <a:ext cx="3200400" cy="768096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577840" y="1389888"/>
            <a:ext cx="64008" cy="768096"/>
          </a:xfrm>
          <a:prstGeom prst="rect">
            <a:avLst/>
          </a:prstGeom>
          <a:solidFill>
            <a:srgbClr val="FEE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42432" y="1426464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0A8"/>
                </a:solidFill>
                <a:latin typeface="Calibri"/>
              </a:rPr>
              <a:t>最大同時子彈數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42432" y="166420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EE440"/>
                </a:solidFill>
                <a:latin typeface="Calibri"/>
              </a:rPr>
              <a:t>~ 400 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2286000"/>
            <a:ext cx="3200400" cy="768096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577840" y="2286000"/>
            <a:ext cx="64008" cy="768096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42432" y="2322576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0A8"/>
                </a:solidFill>
                <a:latin typeface="Calibri"/>
              </a:rPr>
              <a:t>碰撞偵測每幀耗時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42432" y="256032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7CC99"/>
                </a:solidFill>
                <a:latin typeface="Calibri"/>
              </a:rPr>
              <a:t>&lt; 1 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3182112"/>
            <a:ext cx="3200400" cy="768096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577840" y="3182112"/>
            <a:ext cx="64008" cy="768096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42432" y="3218688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0A8"/>
                </a:solidFill>
                <a:latin typeface="Calibri"/>
              </a:rPr>
              <a:t>幀率穩定度 ±1%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42432" y="345643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F5D4"/>
                </a:solidFill>
                <a:latin typeface="Calibri"/>
              </a:rPr>
              <a:t>60 FPS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4078224"/>
            <a:ext cx="3200400" cy="768096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577840" y="4078224"/>
            <a:ext cx="64008" cy="768096"/>
          </a:xfrm>
          <a:prstGeom prst="rect">
            <a:avLst/>
          </a:prstGeom>
          <a:solidFill>
            <a:srgbClr val="00B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42432" y="411480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0A8"/>
                </a:solidFill>
                <a:latin typeface="Calibri"/>
              </a:rPr>
              <a:t>記憶體占用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42432" y="435254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BF9"/>
                </a:solidFill>
                <a:latin typeface="Calibri"/>
              </a:rPr>
              <a:t>&lt; 80 MB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4160520"/>
            <a:ext cx="8412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i="1">
                <a:solidFill>
                  <a:srgbClr val="8B80A8"/>
                </a:solidFill>
                <a:latin typeface="Calibri"/>
              </a:rPr>
              <a:t>難度公式　一般敵人　speedMult = (1.0 + diff×0.2)×0.65 → Easy 0.65 / Normal 0.78 / Hard 0.91 / Lunatic 1.04</a:t>
            </a:r>
            <a:endParaRPr lang="en-US" sz="1000" i="1" dirty="0">
              <a:solidFill>
                <a:srgbClr val="8B80A8"/>
              </a:solidFill>
              <a:latin typeface="Calibri"/>
            </a:endParaRPr>
          </a:p>
          <a:p>
            <a:r>
              <a:rPr sz="1000" i="1">
                <a:solidFill>
                  <a:srgbClr val="FEE440"/>
                </a:solidFill>
                <a:latin typeface="Calibri"/>
              </a:rPr>
              <a:t>　　　　　　Boss　　speedMult = (1.0 + diff×0.25)×0.65 → 0.65 / 0.81 / 0.97 / 1.14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EAF8"/>
                </a:solidFill>
                <a:latin typeface="Calibri"/>
              </a:rPr>
              <a:t>05  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EAF8"/>
                </a:solidFill>
                <a:latin typeface="Calibri"/>
              </a:rPr>
              <a:t>未來改進方向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89888"/>
            <a:ext cx="2788920" cy="342900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81328"/>
            <a:ext cx="2606040" cy="438912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81328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0A1E"/>
                </a:solidFill>
                <a:latin typeface="Calibri"/>
              </a:rPr>
              <a:t>短期  Short-term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075688"/>
            <a:ext cx="201168" cy="201168"/>
          </a:xfrm>
          <a:prstGeom prst="ellipse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20482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AF8"/>
                </a:solidFill>
                <a:latin typeface="Calibri"/>
              </a:rPr>
              <a:t>空間網格分割 (Grid)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3042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0A8"/>
                </a:solidFill>
                <a:latin typeface="Calibri"/>
              </a:rPr>
              <a:t>碰撞偵測由 O(n²) 降至 O(n log n)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990088"/>
            <a:ext cx="201168" cy="201168"/>
          </a:xfrm>
          <a:prstGeom prst="ellipse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29626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AF8"/>
                </a:solidFill>
                <a:latin typeface="Calibri"/>
              </a:rPr>
              <a:t>物件池 (Object Pool)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2186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0A8"/>
                </a:solidFill>
                <a:latin typeface="Calibri"/>
              </a:rPr>
              <a:t>減少 Bullet 物件 GC 壓力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904488"/>
            <a:ext cx="201168" cy="201168"/>
          </a:xfrm>
          <a:prstGeom prst="ellipse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38770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AF8"/>
                </a:solidFill>
                <a:latin typeface="Calibri"/>
              </a:rPr>
              <a:t>Bezier 曲線彈道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1330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0A8"/>
                </a:solidFill>
                <a:latin typeface="Calibri"/>
              </a:rPr>
              <a:t>更自然的參數化子彈路徑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0128" y="1389888"/>
            <a:ext cx="2788920" cy="342900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401568" y="1481328"/>
            <a:ext cx="2606040" cy="43891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01568" y="1481328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0A1E"/>
                </a:solidFill>
                <a:latin typeface="Calibri"/>
              </a:rPr>
              <a:t>中期  Mid-term</a:t>
            </a:r>
          </a:p>
        </p:txBody>
      </p:sp>
      <p:sp>
        <p:nvSpPr>
          <p:cNvPr id="20" name="Oval 19"/>
          <p:cNvSpPr/>
          <p:nvPr/>
        </p:nvSpPr>
        <p:spPr>
          <a:xfrm>
            <a:off x="3493008" y="2075688"/>
            <a:ext cx="201168" cy="201168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85616" y="20482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AF8"/>
                </a:solidFill>
                <a:latin typeface="Calibri"/>
              </a:rPr>
              <a:t>難度自適應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85616" y="23042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0A8"/>
                </a:solidFill>
                <a:latin typeface="Calibri"/>
              </a:rPr>
              <a:t>依存活率動態調整子彈密度</a:t>
            </a:r>
          </a:p>
        </p:txBody>
      </p:sp>
      <p:sp>
        <p:nvSpPr>
          <p:cNvPr id="23" name="Oval 22"/>
          <p:cNvSpPr/>
          <p:nvPr/>
        </p:nvSpPr>
        <p:spPr>
          <a:xfrm>
            <a:off x="3493008" y="2990088"/>
            <a:ext cx="201168" cy="201168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85616" y="29626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AF8"/>
                </a:solidFill>
                <a:latin typeface="Calibri"/>
              </a:rPr>
              <a:t>Boss AI 狀態機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5616" y="32186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0A8"/>
                </a:solidFill>
                <a:latin typeface="Calibri"/>
              </a:rPr>
              <a:t>Idle / Attack / Enrage 三態切換</a:t>
            </a:r>
          </a:p>
        </p:txBody>
      </p:sp>
      <p:sp>
        <p:nvSpPr>
          <p:cNvPr id="26" name="Oval 25"/>
          <p:cNvSpPr/>
          <p:nvPr/>
        </p:nvSpPr>
        <p:spPr>
          <a:xfrm>
            <a:off x="3493008" y="3904488"/>
            <a:ext cx="201168" cy="201168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85616" y="38770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AF8"/>
                </a:solidFill>
                <a:latin typeface="Calibri"/>
              </a:rPr>
              <a:t>10+ 種技能樹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85616" y="41330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0A8"/>
                </a:solidFill>
                <a:latin typeface="Calibri"/>
              </a:rPr>
              <a:t>更深度的 RPG 式成長系統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54496" y="1389888"/>
            <a:ext cx="2788920" cy="342900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45936" y="1481328"/>
            <a:ext cx="2606040" cy="438912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45936" y="1481328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0A1E"/>
                </a:solidFill>
                <a:latin typeface="Calibri"/>
              </a:rPr>
              <a:t>長期  Long-term</a:t>
            </a:r>
          </a:p>
        </p:txBody>
      </p:sp>
      <p:sp>
        <p:nvSpPr>
          <p:cNvPr id="32" name="Oval 31"/>
          <p:cNvSpPr/>
          <p:nvPr/>
        </p:nvSpPr>
        <p:spPr>
          <a:xfrm>
            <a:off x="6437376" y="2075688"/>
            <a:ext cx="201168" cy="201168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29984" y="20482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AF8"/>
                </a:solidFill>
                <a:latin typeface="Calibri"/>
              </a:rPr>
              <a:t>強化學習難度 (RL)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9984" y="23042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0A8"/>
                </a:solidFill>
                <a:latin typeface="Calibri"/>
              </a:rPr>
              <a:t>以 RL 訓練最佳難度曲線</a:t>
            </a:r>
          </a:p>
        </p:txBody>
      </p:sp>
      <p:sp>
        <p:nvSpPr>
          <p:cNvPr id="35" name="Oval 34"/>
          <p:cNvSpPr/>
          <p:nvPr/>
        </p:nvSpPr>
        <p:spPr>
          <a:xfrm>
            <a:off x="6437376" y="2990088"/>
            <a:ext cx="201168" cy="201168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29984" y="29626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AF8"/>
                </a:solidFill>
                <a:latin typeface="Calibri"/>
              </a:rPr>
              <a:t>程序生成 Boss 技能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9984" y="32186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0A8"/>
                </a:solidFill>
                <a:latin typeface="Calibri"/>
              </a:rPr>
              <a:t>隨機但平衡的攻擊組合</a:t>
            </a:r>
          </a:p>
        </p:txBody>
      </p:sp>
      <p:sp>
        <p:nvSpPr>
          <p:cNvPr id="38" name="Oval 37"/>
          <p:cNvSpPr/>
          <p:nvPr/>
        </p:nvSpPr>
        <p:spPr>
          <a:xfrm>
            <a:off x="6437376" y="3904488"/>
            <a:ext cx="201168" cy="201168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29984" y="38770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AF8"/>
                </a:solidFill>
                <a:latin typeface="Calibri"/>
              </a:rPr>
              <a:t>多人彈幕同步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9984" y="41330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0A8"/>
                </a:solidFill>
                <a:latin typeface="Calibri"/>
              </a:rPr>
              <a:t>分散式狀態一致性演算法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903</Words>
  <Application>Microsoft Office PowerPoint</Application>
  <PresentationFormat>如螢幕大小 (16:9)</PresentationFormat>
  <Paragraphs>209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翁 祺展</cp:lastModifiedBy>
  <cp:revision>7</cp:revision>
  <dcterms:created xsi:type="dcterms:W3CDTF">2013-01-27T09:14:16Z</dcterms:created>
  <dcterms:modified xsi:type="dcterms:W3CDTF">2026-06-17T08:29:29Z</dcterms:modified>
  <cp:category/>
</cp:coreProperties>
</file>