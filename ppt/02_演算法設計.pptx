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一般敵人</c:v>
                </c:pt>
              </c:strCache>
            </c:strRef>
          </c:tx>
          <c:spPr>
            <a:solidFill>
              <a:srgbClr val="00BBF9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Easy</c:v>
                </c:pt>
                <c:pt idx="1">
                  <c:v>Normal</c:v>
                </c:pt>
                <c:pt idx="2">
                  <c:v>Hard</c:v>
                </c:pt>
                <c:pt idx="3">
                  <c:v>Lunatic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1.7</c:v>
                </c:pt>
                <c:pt idx="2">
                  <c:v>2.2000000000000002</c:v>
                </c:pt>
                <c:pt idx="3">
                  <c:v>2.8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CF5-4F13-96BF-C44FCCF754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Boss 戰</c:v>
                </c:pt>
              </c:strCache>
            </c:strRef>
          </c:tx>
          <c:spPr>
            <a:solidFill>
              <a:srgbClr val="F15BB5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Easy</c:v>
                </c:pt>
                <c:pt idx="1">
                  <c:v>Normal</c:v>
                </c:pt>
                <c:pt idx="2">
                  <c:v>Hard</c:v>
                </c:pt>
                <c:pt idx="3">
                  <c:v>Lunatic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2.5</c:v>
                </c:pt>
                <c:pt idx="1">
                  <c:v>3.8</c:v>
                </c:pt>
                <c:pt idx="2">
                  <c:v>5.2</c:v>
                </c:pt>
                <c:pt idx="3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CF5-4F13-96BF-C44FCCF754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23360" y="2011679"/>
            <a:ext cx="1097280" cy="1097280"/>
          </a:xfrm>
          <a:prstGeom prst="ellipse">
            <a:avLst/>
          </a:prstGeom>
          <a:noFill/>
          <a:ln w="12700">
            <a:solidFill>
              <a:srgbClr val="501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794760" y="1783079"/>
            <a:ext cx="1554480" cy="1554480"/>
          </a:xfrm>
          <a:prstGeom prst="ellipse">
            <a:avLst/>
          </a:prstGeom>
          <a:noFill/>
          <a:ln w="12700">
            <a:solidFill>
              <a:srgbClr val="5A1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566160" y="1554479"/>
            <a:ext cx="2011680" cy="2011680"/>
          </a:xfrm>
          <a:prstGeom prst="ellipse">
            <a:avLst/>
          </a:prstGeom>
          <a:noFill/>
          <a:ln w="12700">
            <a:solidFill>
              <a:srgbClr val="641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337560" y="1325879"/>
            <a:ext cx="2468880" cy="2468880"/>
          </a:xfrm>
          <a:prstGeom prst="ellipse">
            <a:avLst/>
          </a:prstGeom>
          <a:noFill/>
          <a:ln w="12700">
            <a:solidFill>
              <a:srgbClr val="6E2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08960" y="1097279"/>
            <a:ext cx="2926080" cy="2926080"/>
          </a:xfrm>
          <a:prstGeom prst="ellipse">
            <a:avLst/>
          </a:prstGeom>
          <a:noFill/>
          <a:ln w="12700">
            <a:solidFill>
              <a:srgbClr val="782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880360" y="868679"/>
            <a:ext cx="3383280" cy="3383280"/>
          </a:xfrm>
          <a:prstGeom prst="ellipse">
            <a:avLst/>
          </a:prstGeom>
          <a:noFill/>
          <a:ln w="12700">
            <a:solidFill>
              <a:srgbClr val="822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651760" y="640079"/>
            <a:ext cx="3840480" cy="3840480"/>
          </a:xfrm>
          <a:prstGeom prst="ellipse">
            <a:avLst/>
          </a:prstGeom>
          <a:noFill/>
          <a:ln w="12700">
            <a:solidFill>
              <a:srgbClr val="8C3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423160" y="411479"/>
            <a:ext cx="4297680" cy="4297680"/>
          </a:xfrm>
          <a:prstGeom prst="ellipse">
            <a:avLst/>
          </a:prstGeom>
          <a:noFill/>
          <a:ln w="12700">
            <a:solidFill>
              <a:srgbClr val="963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94560" y="182879"/>
            <a:ext cx="4754880" cy="4754880"/>
          </a:xfrm>
          <a:prstGeom prst="ellipse">
            <a:avLst/>
          </a:prstGeom>
          <a:noFill/>
          <a:ln w="12700">
            <a:solidFill>
              <a:srgbClr val="A03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65960" y="-45720"/>
            <a:ext cx="5212080" cy="5212080"/>
          </a:xfrm>
          <a:prstGeom prst="ellipse">
            <a:avLst/>
          </a:prstGeom>
          <a:noFill/>
          <a:ln w="12700">
            <a:solidFill>
              <a:srgbClr val="AA4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47472"/>
            <a:ext cx="2926080" cy="4572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EAF8"/>
                </a:solidFill>
                <a:latin typeface="Calibri"/>
              </a:rPr>
              <a:t>BULLET STORM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0058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0EAF8"/>
                </a:solidFill>
                <a:latin typeface="Calibri"/>
              </a:rPr>
              <a:t>演算法設計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48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77DFF"/>
                </a:solidFill>
                <a:latin typeface="Calibri"/>
              </a:rPr>
              <a:t>Algorithm Design &amp; Internal Mechanics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0A8"/>
                </a:solidFill>
                <a:latin typeface="Calibri"/>
              </a:rPr>
              <a:t>Project Motivation  ·  System Architecture  ·  Technologies Used  ·  Experimental Results  ·  Future Improvements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1874519" cy="804672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374136"/>
            <a:ext cx="18745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5D4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81304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0A8"/>
                </a:solidFill>
                <a:latin typeface="Calibri"/>
              </a:rPr>
              <a:t>彈幕演算法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3337560"/>
            <a:ext cx="1874519" cy="804672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14600" y="3374136"/>
            <a:ext cx="18745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5D4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81304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0A8"/>
                </a:solidFill>
                <a:latin typeface="Calibri"/>
              </a:rPr>
              <a:t>運動類型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337560"/>
            <a:ext cx="1874519" cy="804672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74136"/>
            <a:ext cx="18745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5D4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81304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0A8"/>
                </a:solidFill>
                <a:latin typeface="Calibri"/>
              </a:rPr>
              <a:t>技能樹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3337560"/>
            <a:ext cx="1874519" cy="804672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3374136"/>
            <a:ext cx="18745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5D4"/>
                </a:solidFill>
                <a:latin typeface="Calibri"/>
              </a:rPr>
              <a:t>Lv 1-99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81304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80A8"/>
                </a:solidFill>
                <a:latin typeface="Calibri"/>
              </a:rPr>
              <a:t>EXP 系統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01  Project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專案動機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8412480" cy="749808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" y="1618488"/>
            <a:ext cx="292608" cy="292608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AF8"/>
                </a:solidFill>
                <a:latin typeface="Calibri"/>
              </a:rPr>
              <a:t>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數學密集型運算挑戰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0A8"/>
                </a:solidFill>
                <a:latin typeface="Calibri"/>
              </a:rPr>
              <a:t>三角函數、向量、參數方程式在每幀執行數百次——60fps × 400 顆子彈 = 每秒 24,000 次物理計算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67712"/>
            <a:ext cx="8412480" cy="749808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2496312"/>
            <a:ext cx="292608" cy="292608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4963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AF8"/>
                </a:solidFill>
                <a:latin typeface="Calibri"/>
              </a:rPr>
              <a:t>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4086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碰撞偵測的效能壓力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15184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0A8"/>
                </a:solidFill>
                <a:latin typeface="Calibri"/>
              </a:rPr>
              <a:t>子彈 × 玩家 × 敵人的 O(n²) 判定，需透過早期終止與延遲清除讓每幀維持在 1ms 以內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45536"/>
            <a:ext cx="8412480" cy="749808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2920" y="3374136"/>
            <a:ext cx="292608" cy="292608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37413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AF8"/>
                </a:solidFill>
                <a:latin typeface="Calibri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1868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敵人行為的演算法設計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9300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0A8"/>
                </a:solidFill>
                <a:latin typeface="Calibri"/>
              </a:rPr>
              <a:t>入場路徑、巡邏 AI、多階段射擊時機，全都需要有狀態的決策邏輯驅動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2920" y="4251960"/>
            <a:ext cx="292608" cy="292608"/>
          </a:xfrm>
          <a:prstGeom prst="ellipse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2519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EAF8"/>
                </a:solidFill>
                <a:latin typeface="Calibri"/>
              </a:rPr>
              <a:t>||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9651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難度的多維度平衡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7083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0A8"/>
                </a:solidFill>
                <a:latin typeface="Calibri"/>
              </a:rPr>
              <a:t>速度、數量、頻率三個軸同步調整，設計出難度曲線平滑遞增、不讓玩家感覺突然跳難的系統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80A8"/>
                </a:solidFill>
                <a:latin typeface="Calibri"/>
              </a:rPr>
              <a:t>目標：僅用標準 Java，以可組合的靜態演算法庫實現 8 種彈幕 × 4 種物理 × 5 種技能升級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02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核心類別架構與物件關係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389888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39312" y="1453896"/>
            <a:ext cx="2139696" cy="29260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39312" y="1453896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GamePanel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9222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主迴圈 60fps
遊戲狀態管理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2578608"/>
            <a:ext cx="2139696" cy="292608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257860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BulletPattern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169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8 種演算法庫
(static，無狀態)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51460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9272" y="2578608"/>
            <a:ext cx="2139696" cy="292608"/>
          </a:xfrm>
          <a:prstGeom prst="rect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9272" y="257860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Boss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9169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5 階段 Boss AI
呼叫 BulletPattern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51460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91072" y="2578608"/>
            <a:ext cx="2139696" cy="292608"/>
          </a:xfrm>
          <a:prstGeom prst="rect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257860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Enemy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9169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3 類敵人 + AI
自動生成與消失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1188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" y="3675888"/>
            <a:ext cx="2139696" cy="292608"/>
          </a:xfrm>
          <a:prstGeom prst="rect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" y="367588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Bullet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1421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通用子彈 type 0-3
所有子彈共用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61188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19272" y="3675888"/>
            <a:ext cx="2139696" cy="292608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19272" y="367588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Player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01421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玩家控制
整合 EXP 系統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611880"/>
            <a:ext cx="2286000" cy="77724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91072" y="3675888"/>
            <a:ext cx="2139696" cy="292608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91072" y="367588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0A1E"/>
                </a:solidFill>
                <a:latin typeface="Calibri"/>
              </a:rPr>
              <a:t>ExperienceSystem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01421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0EAF8"/>
                </a:solidFill>
                <a:latin typeface="Calibri"/>
              </a:rPr>
              <a:t>5 項技能
自動/手動升級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3291840"/>
            <a:ext cx="18288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89120" y="3291840"/>
            <a:ext cx="18288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360920" y="3291840"/>
            <a:ext cx="18288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017520" y="2171700"/>
            <a:ext cx="22860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897880" y="2171700"/>
            <a:ext cx="22860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80A8"/>
                </a:solidFill>
                <a:latin typeface="Calibri"/>
              </a:rPr>
              <a:t>BulletPattern 為純靜態工具類（無實例化），Enemy 與 Boss 傳入參數即回傳 List&lt;Bullet&gt;，達成演算法複用與解耦。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8 種彈幕生成演算法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256032" cy="25603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264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環形爆散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0078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circularBurst()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42646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θᵢ = θ₀ + i×(2π/n)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0078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全向 n 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389888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92040" y="1463040"/>
            <a:ext cx="256032" cy="256032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57800" y="14264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瞄準扇射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70078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aimedSpread()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42646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base = atan2(Δy,Δx) ± spread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70078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鎖定玩家扇形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2359152"/>
            <a:ext cx="256032" cy="256032"/>
          </a:xfrm>
          <a:prstGeom prst="ellipse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3225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雙環交轉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96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doubleRing()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32257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outer_v &gt; 0, inner_v &lt;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59689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外快內慢對向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2286000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892040" y="2359152"/>
            <a:ext cx="256032" cy="256032"/>
          </a:xfrm>
          <a:prstGeom prst="ellipse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23225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螺旋臂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5968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spiralArm()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32257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offset += Δθ per frame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59689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每幀遞增旋轉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82112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7200" y="3255264"/>
            <a:ext cx="256032" cy="256032"/>
          </a:xfrm>
          <a:prstGeom prst="ellipse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32186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追蹤彈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493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homingBullets()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218688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angle = lerp(angle, target, 0.05)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349300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自動追蹤玩家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3182112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892040" y="3255264"/>
            <a:ext cx="256032" cy="256032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57800" y="32186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波動彈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3493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waveBullets()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218688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offset = sin(phase) × amp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49300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蛇形軌跡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078224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57200" y="4151376"/>
            <a:ext cx="256032" cy="25603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4114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星爆交錯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3891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starBurst()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41148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i%2==0→fast, i%2==1→slow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438912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交替速度環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4078224"/>
            <a:ext cx="425196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892040" y="4151376"/>
            <a:ext cx="256032" cy="256032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57800" y="4114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AF8"/>
                </a:solidFill>
                <a:latin typeface="Calibri"/>
              </a:rPr>
              <a:t>蝴蝶散射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7800" y="43891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ourier New"/>
              </a:rPr>
              <a:t>butterflySpray()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41148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EE440"/>
                </a:solidFill>
                <a:latin typeface="Courier New"/>
              </a:rPr>
              <a:t>spread = sin(t) × π × 0.4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389120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蝴蝶型 8 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子彈物理模式與 EXP 升級系統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89888"/>
            <a:ext cx="4160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7DFF"/>
                </a:solidFill>
                <a:latin typeface="Calibri"/>
              </a:rPr>
              <a:t>4 種子彈運動模式（Bullet.type 欄位）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55648"/>
            <a:ext cx="4160520" cy="694944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640080" cy="274320"/>
          </a:xfrm>
          <a:prstGeom prst="rect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0A1E"/>
                </a:solidFill>
                <a:latin typeface="Calibri"/>
              </a:rPr>
              <a:t>type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105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AF8"/>
                </a:solidFill>
                <a:latin typeface="Calibri"/>
              </a:rPr>
              <a:t>直線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810512"/>
            <a:ext cx="2377440" cy="58521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84831" y="184708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x += vx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208483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y += 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2128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alibri"/>
              </a:rPr>
              <a:t>等速直線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78608"/>
            <a:ext cx="4160520" cy="694944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640080" cy="274320"/>
          </a:xfrm>
          <a:prstGeom prst="rect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0A1E"/>
                </a:solidFill>
                <a:latin typeface="Calibri"/>
              </a:rPr>
              <a:t>type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33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AF8"/>
                </a:solidFill>
                <a:latin typeface="Calibri"/>
              </a:rPr>
              <a:t>追蹤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633472"/>
            <a:ext cx="2377440" cy="58521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84831" y="267004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angle → atan2(target)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2907791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clamp(Δangle, ±ω)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0358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alibri"/>
              </a:rPr>
              <a:t>漸進轉向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01568"/>
            <a:ext cx="4160520" cy="694944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474720"/>
            <a:ext cx="64008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0A1E"/>
                </a:solidFill>
                <a:latin typeface="Calibri"/>
              </a:rPr>
              <a:t>type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4564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AF8"/>
                </a:solidFill>
                <a:latin typeface="Calibri"/>
              </a:rPr>
              <a:t>波動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3456432"/>
            <a:ext cx="2377440" cy="58521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84831" y="349300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phase += freq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4831" y="373075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perp = sin(phase)×amp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38587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alibri"/>
              </a:rPr>
              <a:t>正弦側移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24528"/>
            <a:ext cx="4160520" cy="694944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297680"/>
            <a:ext cx="640080" cy="274320"/>
          </a:xfrm>
          <a:prstGeom prst="rect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297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0A1E"/>
                </a:solidFill>
                <a:latin typeface="Calibri"/>
              </a:rPr>
              <a:t>type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2793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AF8"/>
                </a:solidFill>
                <a:latin typeface="Calibri"/>
              </a:rPr>
              <a:t>加速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4279392"/>
            <a:ext cx="2377440" cy="58521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84831" y="431596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speed += accel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1" y="455371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vx,vy 依 speed 更新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6817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80A8"/>
                </a:solidFill>
                <a:latin typeface="Calibri"/>
              </a:rPr>
              <a:t>可負 accel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1389888"/>
            <a:ext cx="4069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7DFF"/>
                </a:solidFill>
                <a:latin typeface="Calibri"/>
              </a:rPr>
              <a:t>EXP 升級系統（5 項技能樹）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17556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升級所需：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73736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72200" y="175564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expNext = 1000 + level × 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21214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擊殺 EXP：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210312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72200" y="212140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7CC99"/>
                </a:solidFill>
                <a:latin typeface="Courier New"/>
              </a:rPr>
              <a:t>50 × (type+1) × (diff+1)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24871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Boss EXP：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2468879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72200" y="248716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EE440"/>
                </a:solidFill>
                <a:latin typeface="Courier New"/>
              </a:rPr>
              <a:t>5000 × (diff+1)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28529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刷掠 EXP：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283464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72200" y="285292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BF9"/>
                </a:solidFill>
                <a:latin typeface="Courier New"/>
              </a:rPr>
              <a:t>5 / bullet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32186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射速技能：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320040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2200" y="321868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77DFF"/>
                </a:solidFill>
                <a:latin typeface="Courier New"/>
              </a:rPr>
              <a:t>speed × (1.0 + lvl×0.15)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60" y="35844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射頻技能：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356616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72200" y="358444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15BB5"/>
                </a:solidFill>
                <a:latin typeface="Courier New"/>
              </a:rPr>
              <a:t>cooldown -= lvl×2  (min 2)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60" y="39502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生命技能：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393192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72200" y="395020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7CC99"/>
                </a:solidFill>
                <a:latin typeface="Courier New"/>
              </a:rPr>
              <a:t>max_life += lvl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60" y="43159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炸彈技能：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08192" y="429768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72200" y="431596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EE440"/>
                </a:solidFill>
                <a:latin typeface="Courier New"/>
              </a:rPr>
              <a:t>bomb_dmg × (1+lvl×0.2)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60" y="46817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80A8"/>
                </a:solidFill>
                <a:latin typeface="Calibri"/>
              </a:rPr>
              <a:t>刷掠技能：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4663440"/>
            <a:ext cx="2633472" cy="310896"/>
          </a:xfrm>
          <a:prstGeom prst="rect">
            <a:avLst/>
          </a:prstGeom>
          <a:solidFill>
            <a:srgbClr val="0A0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172200" y="4681728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F5D4"/>
                </a:solidFill>
                <a:latin typeface="Courier New"/>
              </a:rPr>
              <a:t>graze_r × (1+lvl×0.1)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03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敵人 AI 生命週期管理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9224" y="1481328"/>
            <a:ext cx="402336" cy="402336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80A8"/>
                </a:solidFill>
                <a:latin typeface="Courier New"/>
              </a:rPr>
              <a:t>age = -(i×15)
錯開入場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5024" y="1828800"/>
            <a:ext cx="9144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26464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09928" y="1481328"/>
            <a:ext cx="402336" cy="402336"/>
          </a:xfrm>
          <a:prstGeom prst="ellipse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09928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進場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80A8"/>
                </a:solidFill>
                <a:latin typeface="Courier New"/>
              </a:rPr>
              <a:t>age &lt; 60
依 vx/vy 飛入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728" y="1828800"/>
            <a:ext cx="9144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87168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70632" y="1481328"/>
            <a:ext cx="402336" cy="402336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70632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減速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80A8"/>
                </a:solidFill>
                <a:latin typeface="Courier New"/>
              </a:rPr>
              <a:t>60 ≤ age &lt; 120
vx *= 0.95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6432" y="1828800"/>
            <a:ext cx="9144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47871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31335" y="1481328"/>
            <a:ext cx="402336" cy="402336"/>
          </a:xfrm>
          <a:prstGeom prst="ellipse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31335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巡邏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7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80A8"/>
                </a:solidFill>
                <a:latin typeface="Courier New"/>
              </a:rPr>
              <a:t>age ≥ 120
sin(t)×40 擺動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1828800"/>
            <a:ext cx="91440" cy="1828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08576" y="1389888"/>
            <a:ext cx="969264" cy="9601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892040" y="1481328"/>
            <a:ext cx="402336" cy="402336"/>
          </a:xfrm>
          <a:prstGeom prst="ellipse">
            <a:avLst/>
          </a:prstGeom>
          <a:solidFill>
            <a:srgbClr val="F1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14813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0A1E"/>
                </a:solidFill>
                <a:latin typeface="Calibri"/>
              </a:rPr>
              <a:t>消失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1993392"/>
            <a:ext cx="896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80A8"/>
                </a:solidFill>
                <a:latin typeface="Courier New"/>
              </a:rPr>
              <a:t>age ≥ maxAge
active = false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514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各敵人存活時間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65760" y="2834640"/>
          <a:ext cx="4754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0A1E"/>
                          </a:solidFill>
                          <a:latin typeface="Calibri"/>
                        </a:rPr>
                        <a:t>敵人類型</a:t>
                      </a:r>
                    </a:p>
                  </a:txBody>
                  <a:tcPr>
                    <a:solidFill>
                      <a:srgbClr val="9B5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0A1E"/>
                          </a:solidFill>
                          <a:latin typeface="Calibri"/>
                        </a:rPr>
                        <a:t>maxAge (幀)</a:t>
                      </a:r>
                    </a:p>
                  </a:txBody>
                  <a:tcPr>
                    <a:solidFill>
                      <a:srgbClr val="9B5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0A1E"/>
                          </a:solidFill>
                          <a:latin typeface="Calibri"/>
                        </a:rPr>
                        <a:t>存活秒數</a:t>
                      </a:r>
                    </a:p>
                  </a:txBody>
                  <a:tcPr>
                    <a:solidFill>
                      <a:srgbClr val="9B5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0A1E"/>
                          </a:solidFill>
                          <a:latin typeface="Calibri"/>
                        </a:rPr>
                        <a:t>射擊間隔</a:t>
                      </a:r>
                    </a:p>
                  </a:txBody>
                  <a:tcPr>
                    <a:solidFill>
                      <a:srgbClr val="9B5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type 0 仙子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8.0 秒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100 幀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type 1 妖怪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10.0 秒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90 幀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type 2 頭目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720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12.0 秒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0EAF8"/>
                          </a:solidFill>
                          <a:latin typeface="Calibri"/>
                        </a:rPr>
                        <a:t>70 幀</a:t>
                      </a:r>
                    </a:p>
                  </a:txBody>
                  <a:tcPr>
                    <a:solidFill>
                      <a:srgbClr val="1A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5760720" y="1389888"/>
            <a:ext cx="3017520" cy="2816352"/>
          </a:xfrm>
          <a:prstGeom prst="rect">
            <a:avLst/>
          </a:prstGeom>
          <a:solidFill>
            <a:srgbClr val="13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52160" y="146304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5D4"/>
                </a:solidFill>
                <a:latin typeface="Calibri"/>
              </a:rPr>
              <a:t>錯開生成演算法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1828800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for (int i = 0; i &lt; n; i++)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2020824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  Enemy en = new Enemy(...);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2212848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  en.age = -(i * 15);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2404872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B80A8"/>
                </a:solidFill>
                <a:latin typeface="Courier New"/>
              </a:rPr>
              <a:t>  // 每隻差 15 幀入場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2596896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  enemies.add(en);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2788920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2980944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B80A8"/>
                </a:solidFill>
                <a:latin typeface="Courier New"/>
              </a:rPr>
              <a:t>// update() 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3172968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if (age &lt;= 0) return;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3364991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if (age &gt;= maxAge) {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3557015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  active = false;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3749039"/>
            <a:ext cx="285292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F5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04 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實驗結果：效能與難度平衡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898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AF8"/>
                </a:solidFill>
                <a:latin typeface="Calibri"/>
              </a:rPr>
              <a:t>各難度每秒產生子彈數量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737360"/>
          <a:ext cx="5029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577840" y="1389888"/>
            <a:ext cx="320040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77840" y="1389888"/>
            <a:ext cx="64008" cy="768096"/>
          </a:xfrm>
          <a:prstGeom prst="rect">
            <a:avLst/>
          </a:prstGeom>
          <a:solidFill>
            <a:srgbClr val="FEE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42432" y="142646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最大同時子彈數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432" y="166420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EE440"/>
                </a:solidFill>
                <a:latin typeface="Calibri"/>
              </a:rPr>
              <a:t>~ 400 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286000"/>
            <a:ext cx="320040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77840" y="2286000"/>
            <a:ext cx="64008" cy="768096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42432" y="2322576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碰撞偵測每幀耗時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25603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7CC99"/>
                </a:solidFill>
                <a:latin typeface="Calibri"/>
              </a:rPr>
              <a:t>&lt; 1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3182112"/>
            <a:ext cx="320040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77840" y="3182112"/>
            <a:ext cx="64008" cy="76809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42432" y="321868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幀率穩定度 ±1%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34564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F5D4"/>
                </a:solidFill>
                <a:latin typeface="Calibri"/>
              </a:rPr>
              <a:t>60 FPS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4078224"/>
            <a:ext cx="3200400" cy="768096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77840" y="4078224"/>
            <a:ext cx="64008" cy="768096"/>
          </a:xfrm>
          <a:prstGeom prst="rect">
            <a:avLst/>
          </a:prstGeom>
          <a:solidFill>
            <a:srgbClr val="00B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42432" y="411480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記憶體占用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43525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BF9"/>
                </a:solidFill>
                <a:latin typeface="Calibri"/>
              </a:rPr>
              <a:t>&lt; 80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8795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B80A8"/>
                </a:solidFill>
                <a:latin typeface="Calibri"/>
              </a:rPr>
              <a:t>難度公式：speedMult = (1.0 + difficulty×0.2)×0.65  |  Easy 0.65× / Normal 0.78× / Hard 0.91× / Lunatic 1.04×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AF8"/>
                </a:solidFill>
                <a:latin typeface="Calibri"/>
              </a:rPr>
              <a:t>05 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EAF8"/>
                </a:solidFill>
                <a:latin typeface="Calibri"/>
              </a:rPr>
              <a:t>未來改進方向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2788920" cy="342900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81328"/>
            <a:ext cx="2606040" cy="438912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A1E"/>
                </a:solidFill>
                <a:latin typeface="Calibri"/>
              </a:rPr>
              <a:t>短期  Short-term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75688"/>
            <a:ext cx="201168" cy="201168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048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空間網格分割 (Grid)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碰撞偵測由 O(n²) 降至 O(n log n)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990088"/>
            <a:ext cx="201168" cy="201168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962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物件池 (Object Pool)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減少 Bullet 物件 GC 壓力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04488"/>
            <a:ext cx="201168" cy="201168"/>
          </a:xfrm>
          <a:prstGeom prst="ellipse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877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Bezier 曲線彈道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更自然的參數化子彈路徑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1389888"/>
            <a:ext cx="2788920" cy="342900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01568" y="1481328"/>
            <a:ext cx="2606040" cy="43891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01568" y="14813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A1E"/>
                </a:solidFill>
                <a:latin typeface="Calibri"/>
              </a:rPr>
              <a:t>中期  Mid-term</a:t>
            </a:r>
          </a:p>
        </p:txBody>
      </p:sp>
      <p:sp>
        <p:nvSpPr>
          <p:cNvPr id="20" name="Oval 19"/>
          <p:cNvSpPr/>
          <p:nvPr/>
        </p:nvSpPr>
        <p:spPr>
          <a:xfrm>
            <a:off x="3493008" y="2075688"/>
            <a:ext cx="201168" cy="201168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85616" y="2048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難度自適應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5616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依存活率動態調整子彈密度</a:t>
            </a:r>
          </a:p>
        </p:txBody>
      </p:sp>
      <p:sp>
        <p:nvSpPr>
          <p:cNvPr id="23" name="Oval 22"/>
          <p:cNvSpPr/>
          <p:nvPr/>
        </p:nvSpPr>
        <p:spPr>
          <a:xfrm>
            <a:off x="3493008" y="2990088"/>
            <a:ext cx="201168" cy="201168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85616" y="2962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Boss AI 狀態機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616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Idle / Attack / Enrage 三態切換</a:t>
            </a:r>
          </a:p>
        </p:txBody>
      </p:sp>
      <p:sp>
        <p:nvSpPr>
          <p:cNvPr id="26" name="Oval 25"/>
          <p:cNvSpPr/>
          <p:nvPr/>
        </p:nvSpPr>
        <p:spPr>
          <a:xfrm>
            <a:off x="3493008" y="3904488"/>
            <a:ext cx="201168" cy="201168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85616" y="3877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10+ 種技能樹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5616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更深度的 RPG 式成長系統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1389888"/>
            <a:ext cx="2788920" cy="342900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45936" y="1481328"/>
            <a:ext cx="2606040" cy="438912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45936" y="148132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A1E"/>
                </a:solidFill>
                <a:latin typeface="Calibri"/>
              </a:rPr>
              <a:t>長期  Long-term</a:t>
            </a:r>
          </a:p>
        </p:txBody>
      </p:sp>
      <p:sp>
        <p:nvSpPr>
          <p:cNvPr id="32" name="Oval 31"/>
          <p:cNvSpPr/>
          <p:nvPr/>
        </p:nvSpPr>
        <p:spPr>
          <a:xfrm>
            <a:off x="6437376" y="207568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9984" y="2048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強化學習難度 (RL)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以 RL 訓練最佳難度曲線</a:t>
            </a:r>
          </a:p>
        </p:txBody>
      </p:sp>
      <p:sp>
        <p:nvSpPr>
          <p:cNvPr id="35" name="Oval 34"/>
          <p:cNvSpPr/>
          <p:nvPr/>
        </p:nvSpPr>
        <p:spPr>
          <a:xfrm>
            <a:off x="6437376" y="299008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9984" y="2962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程序生成 Boss 技能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4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隨機但平衡的攻擊組合</a:t>
            </a:r>
          </a:p>
        </p:txBody>
      </p:sp>
      <p:sp>
        <p:nvSpPr>
          <p:cNvPr id="38" name="Oval 37"/>
          <p:cNvSpPr/>
          <p:nvPr/>
        </p:nvSpPr>
        <p:spPr>
          <a:xfrm>
            <a:off x="6437376" y="390448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9984" y="3877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EAF8"/>
                </a:solidFill>
                <a:latin typeface="Calibri"/>
              </a:rPr>
              <a:t>多人彈幕同步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80A8"/>
                </a:solidFill>
                <a:latin typeface="Calibri"/>
              </a:rPr>
              <a:t>分散式狀態一致性演算法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741</Words>
  <Application>Microsoft Office PowerPoint</Application>
  <PresentationFormat>如螢幕大小 (16:9)</PresentationFormat>
  <Paragraphs>196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翁 祺展</cp:lastModifiedBy>
  <cp:revision>2</cp:revision>
  <dcterms:created xsi:type="dcterms:W3CDTF">2013-01-27T09:14:16Z</dcterms:created>
  <dcterms:modified xsi:type="dcterms:W3CDTF">2026-06-15T16:35:51Z</dcterms:modified>
  <cp:category/>
</cp:coreProperties>
</file>