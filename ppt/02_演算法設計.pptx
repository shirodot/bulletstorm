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108" y="-3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rgbClr val="00B0F0"/>
              </a:solidFill>
              <a:latin typeface="+mn-lt"/>
              <a:ea typeface="+mn-ea"/>
              <a:cs typeface="+mn-cs"/>
            </a:defRPr>
          </a:pPr>
          <a:endParaRPr lang="zh-TW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EXP Next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</c:dPt>
          <c:dPt>
            <c:idx val="1"/>
            <c:invertIfNegative val="1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</c:dPt>
          <c:dPt>
            <c:idx val="2"/>
            <c:invertIfNegative val="1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</c:dPt>
          <c:dPt>
            <c:idx val="3"/>
            <c:invertIfNegative val="1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</c:dPt>
          <c:dPt>
            <c:idx val="4"/>
            <c:invertIfNegative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</c:dPt>
          <c:dPt>
            <c:idx val="5"/>
            <c:invertIfNegative val="1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</c:dPt>
          <c:dPt>
            <c:idx val="6"/>
            <c:invertIfNegative val="1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/>
            </c:spPr>
          </c:dPt>
          <c:dPt>
            <c:idx val="7"/>
            <c:invertIfNegative val="1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/>
            </c:spPr>
          </c:dPt>
          <c:dPt>
            <c:idx val="8"/>
            <c:invertIfNegative val="1"/>
            <c:bubble3D val="0"/>
            <c:spPr>
              <a:solidFill>
                <a:schemeClr val="accent3">
                  <a:lumMod val="60000"/>
                </a:schemeClr>
              </a:solidFill>
              <a:ln>
                <a:noFill/>
              </a:ln>
              <a:effectLst/>
            </c:spPr>
          </c:dPt>
          <c:dPt>
            <c:idx val="9"/>
            <c:invertIfNegative val="1"/>
            <c:bubble3D val="0"/>
            <c:spPr>
              <a:solidFill>
                <a:schemeClr val="accent4">
                  <a:lumMod val="60000"/>
                </a:schemeClr>
              </a:solidFill>
              <a:ln>
                <a:noFill/>
              </a:ln>
              <a:effectLst/>
            </c:spPr>
          </c:dPt>
          <c:cat>
            <c:strRef>
              <c:f>Sheet1!$A$2:$A$11</c:f>
              <c:strCache>
                <c:ptCount val="10"/>
                <c:pt idx="0">
                  <c:v>Lv 1</c:v>
                </c:pt>
                <c:pt idx="1">
                  <c:v>Lv 2</c:v>
                </c:pt>
                <c:pt idx="2">
                  <c:v>Lv 3</c:v>
                </c:pt>
                <c:pt idx="3">
                  <c:v>Lv 4</c:v>
                </c:pt>
                <c:pt idx="4">
                  <c:v>Lv 5</c:v>
                </c:pt>
                <c:pt idx="5">
                  <c:v>Lv 6</c:v>
                </c:pt>
                <c:pt idx="6">
                  <c:v>Lv 7</c:v>
                </c:pt>
                <c:pt idx="7">
                  <c:v>Lv 8</c:v>
                </c:pt>
                <c:pt idx="8">
                  <c:v>Lv 9</c:v>
                </c:pt>
                <c:pt idx="9">
                  <c:v>Lv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1500</c:v>
                </c:pt>
                <c:pt idx="1">
                  <c:v>2000</c:v>
                </c:pt>
                <c:pt idx="2">
                  <c:v>2500</c:v>
                </c:pt>
                <c:pt idx="3">
                  <c:v>3000</c:v>
                </c:pt>
                <c:pt idx="4">
                  <c:v>3500</c:v>
                </c:pt>
                <c:pt idx="5">
                  <c:v>4000</c:v>
                </c:pt>
                <c:pt idx="6">
                  <c:v>4500</c:v>
                </c:pt>
                <c:pt idx="7">
                  <c:v>5000</c:v>
                </c:pt>
                <c:pt idx="8">
                  <c:v>5500</c:v>
                </c:pt>
                <c:pt idx="9">
                  <c:v>6000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0F-4647-8AA6-4CC3F51750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0B0F0"/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0B0F0"/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txPr>
    <a:bodyPr/>
    <a:lstStyle/>
    <a:p>
      <a:pPr>
        <a:defRPr>
          <a:solidFill>
            <a:srgbClr val="00B0F0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828800" y="-3200400"/>
            <a:ext cx="6400800" cy="6400800"/>
          </a:xfrm>
          <a:prstGeom prst="ellipse">
            <a:avLst/>
          </a:prstGeom>
          <a:noFill/>
          <a:ln w="15240">
            <a:solidFill>
              <a:srgbClr val="9B5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743200" y="-2286000"/>
            <a:ext cx="4572000" cy="4572000"/>
          </a:xfrm>
          <a:prstGeom prst="ellipse">
            <a:avLst/>
          </a:prstGeom>
          <a:noFill/>
          <a:ln w="1524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411480"/>
            <a:ext cx="2560320" cy="475488"/>
          </a:xfrm>
          <a:prstGeom prst="roundRect">
            <a:avLst/>
          </a:prstGeom>
          <a:solidFill>
            <a:srgbClr val="9B5DE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1148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EAF8"/>
                </a:solidFill>
                <a:latin typeface="Calibri"/>
              </a:rPr>
              <a:t>BULLET STORM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0EAF8"/>
                </a:solidFill>
                <a:latin typeface="Calibri"/>
              </a:rPr>
              <a:t>演算法設計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77DFF"/>
                </a:solidFill>
                <a:latin typeface="Calibri"/>
              </a:rPr>
              <a:t>Algorithm Design &amp; Internal Mechanics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3200400" cy="36576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944368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80A8"/>
                </a:solidFill>
                <a:latin typeface="Calibri"/>
              </a:rPr>
              <a:t>8 種實用彈幕演算法  ·  4 種子彈運動型  ·  5 項技能樹
敵人AI生命週期  ·  動態難度系統  ·  O(n²) 碰撞偵測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77639"/>
            <a:ext cx="1920240" cy="868680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400507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F5D4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256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0A8"/>
                </a:solidFill>
                <a:latin typeface="Calibri"/>
              </a:rPr>
              <a:t>彈幕演算法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3977639"/>
            <a:ext cx="1920240" cy="868680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60320" y="400507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F5D4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4256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0A8"/>
                </a:solidFill>
                <a:latin typeface="Calibri"/>
              </a:rPr>
              <a:t>運動類型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977639"/>
            <a:ext cx="1920240" cy="868680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0" y="400507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F5D4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4256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0A8"/>
                </a:solidFill>
                <a:latin typeface="Calibri"/>
              </a:rPr>
              <a:t>技能樹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59" y="3977639"/>
            <a:ext cx="1920240" cy="868680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59" y="400507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F5D4"/>
                </a:solidFill>
                <a:latin typeface="Calibri"/>
              </a:rPr>
              <a:t>Level 1-99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44256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80A8"/>
                </a:solidFill>
                <a:latin typeface="Calibri"/>
              </a:rPr>
              <a:t>EXP系統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137160"/>
            <a:ext cx="2103120" cy="365760"/>
          </a:xfrm>
          <a:prstGeom prst="roundRect">
            <a:avLst/>
          </a:prstGeom>
          <a:solidFill>
            <a:srgbClr val="9B5DE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簡報目錄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8412480" cy="2743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389888"/>
            <a:ext cx="8412480" cy="4846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1435608"/>
            <a:ext cx="320040" cy="320040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75750"/>
            <a:ext cx="320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0EAF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40817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系統架構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45920"/>
            <a:ext cx="7223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7 個核心類別、物件關係圖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956816"/>
            <a:ext cx="8412480" cy="4846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02920" y="2002536"/>
            <a:ext cx="320040" cy="320040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002536"/>
            <a:ext cx="320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0EAF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97510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彈幕演算法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212848"/>
            <a:ext cx="7223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8 種實際使用的射擊模式詳解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523744"/>
            <a:ext cx="8412480" cy="4846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02920" y="2569463"/>
            <a:ext cx="320040" cy="320040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569463"/>
            <a:ext cx="320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0EAF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5420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子彈物理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779776"/>
            <a:ext cx="7223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4 種運動型別：直線、追蹤、波動、加速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090672"/>
            <a:ext cx="8412480" cy="4846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02920" y="3136391"/>
            <a:ext cx="320040" cy="320040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136391"/>
            <a:ext cx="320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0EAF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EXP系統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346704"/>
            <a:ext cx="7223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5 項技能樹、自動升級邏輯、公式推導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3657600"/>
            <a:ext cx="8412480" cy="4846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02920" y="3703320"/>
            <a:ext cx="320040" cy="320040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703320"/>
            <a:ext cx="320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0EAF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675887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敵人AI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913632"/>
            <a:ext cx="7223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生命週期、錯開生成、自動消失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224528"/>
            <a:ext cx="8412480" cy="4846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02920" y="4270248"/>
            <a:ext cx="320040" cy="320040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4270248"/>
            <a:ext cx="320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0EAF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24281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實驗結果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480560"/>
            <a:ext cx="7223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效能分析、難度曲線、驗證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137160"/>
            <a:ext cx="2103120" cy="365760"/>
          </a:xfrm>
          <a:prstGeom prst="roundRect">
            <a:avLst/>
          </a:prstGeom>
          <a:solidFill>
            <a:srgbClr val="9B5DE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01 系統架構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核心類別與物件關係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8412480" cy="2743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66160" y="1417320"/>
            <a:ext cx="2286000" cy="65836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39312" y="1472184"/>
            <a:ext cx="2139696" cy="274320"/>
          </a:xfrm>
          <a:prstGeom prst="roundRect">
            <a:avLst/>
          </a:prstGeom>
          <a:solidFill>
            <a:srgbClr val="9B5DE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9312" y="147218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GamePanel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647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主遊戲迴圈 60fps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14600"/>
            <a:ext cx="2286000" cy="65836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8912" y="2569464"/>
            <a:ext cx="2139696" cy="274320"/>
          </a:xfrm>
          <a:prstGeom prst="roundRect">
            <a:avLst/>
          </a:prstGeom>
          <a:solidFill>
            <a:srgbClr val="00F5D4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256946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BulletPattern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620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8 種演算法庫 (static)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514600"/>
            <a:ext cx="2286000" cy="65836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319272" y="2569464"/>
            <a:ext cx="2139696" cy="274320"/>
          </a:xfrm>
          <a:prstGeom prst="roundRect">
            <a:avLst/>
          </a:prstGeom>
          <a:solidFill>
            <a:srgbClr val="F15BB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19272" y="256946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Boss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8620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5 階段 Boss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14600"/>
            <a:ext cx="2286000" cy="65836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91072" y="2569464"/>
            <a:ext cx="2139696" cy="274320"/>
          </a:xfrm>
          <a:prstGeom prst="roundRect">
            <a:avLst/>
          </a:prstGeom>
          <a:solidFill>
            <a:srgbClr val="00BBF9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91072" y="256946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Enemy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28620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3 類敵人 + 4 種射擊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566160"/>
            <a:ext cx="2286000" cy="65836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38912" y="3621024"/>
            <a:ext cx="2139696" cy="274320"/>
          </a:xfrm>
          <a:prstGeom prst="roundRect">
            <a:avLst/>
          </a:prstGeom>
          <a:solidFill>
            <a:srgbClr val="FEE44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" y="362102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Bullet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91363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通用子彈 (type 0-3)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6120" y="3566160"/>
            <a:ext cx="2286000" cy="65836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19272" y="3621024"/>
            <a:ext cx="2139696" cy="274320"/>
          </a:xfrm>
          <a:prstGeom prst="roundRect">
            <a:avLst/>
          </a:prstGeom>
          <a:solidFill>
            <a:srgbClr val="57CC99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19272" y="362102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Player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91363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玩家 + EXP 系統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566160"/>
            <a:ext cx="2286000" cy="65836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91072" y="3621024"/>
            <a:ext cx="2139696" cy="274320"/>
          </a:xfrm>
          <a:prstGeom prst="roundRect">
            <a:avLst/>
          </a:prstGeom>
          <a:solidFill>
            <a:srgbClr val="C77DFF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91072" y="362102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ExperienceSystem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59" y="391363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5 項技能 + 自動升級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08760" y="2057400"/>
            <a:ext cx="3200400" cy="45720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89120" y="2057400"/>
            <a:ext cx="320040" cy="45720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09160" y="2057400"/>
            <a:ext cx="2651760" cy="45720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508760" y="3172968"/>
            <a:ext cx="18288" cy="393191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389120" y="3172968"/>
            <a:ext cx="18288" cy="393191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360920" y="3172968"/>
            <a:ext cx="18288" cy="393191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5760" y="446227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BulletPattern 為純靜態工具類，被 Enemy / Boss 呼叫產生子彈清單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137160"/>
            <a:ext cx="2103120" cy="365760"/>
          </a:xfrm>
          <a:prstGeom prst="roundRect">
            <a:avLst/>
          </a:prstGeom>
          <a:solidFill>
            <a:srgbClr val="9B5DE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02 彈幕演算法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8 種實際使用的射擊模式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8412480" cy="2743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4251960" cy="74980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57200" y="1490472"/>
            <a:ext cx="246888" cy="24688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90472"/>
            <a:ext cx="2468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0A1E"/>
                </a:solidFill>
                <a:latin typeface="Calibri"/>
              </a:rPr>
              <a:t>circularBurst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4538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環形爆散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72821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i × (2π/n)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453896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80A8"/>
                </a:solidFill>
                <a:latin typeface="Calibri"/>
              </a:rPr>
              <a:t>全向 n 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1417320"/>
            <a:ext cx="4251960" cy="74980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892040" y="1490472"/>
            <a:ext cx="246888" cy="246888"/>
          </a:xfrm>
          <a:prstGeom prst="ellipse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92040" y="1490472"/>
            <a:ext cx="2468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0A1E"/>
                </a:solidFill>
                <a:latin typeface="Calibri"/>
              </a:rPr>
              <a:t>aimedSpread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512" y="14538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瞄準扇射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9512" y="172821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atan2(target) ± 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453896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80A8"/>
                </a:solidFill>
                <a:latin typeface="Calibri"/>
              </a:rPr>
              <a:t>鎖定玩家扇形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331720"/>
            <a:ext cx="4251960" cy="74980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57200" y="2404872"/>
            <a:ext cx="246888" cy="246888"/>
          </a:xfrm>
          <a:prstGeom prst="ellipse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404872"/>
            <a:ext cx="2468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0A1E"/>
                </a:solidFill>
                <a:latin typeface="Calibri"/>
              </a:rPr>
              <a:t>doubleRing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23682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雙環交轉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2642615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outer + inner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368296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80A8"/>
                </a:solidFill>
                <a:latin typeface="Calibri"/>
              </a:rPr>
              <a:t>外快內慢對向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331720"/>
            <a:ext cx="4251960" cy="74980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892040" y="2404872"/>
            <a:ext cx="246888" cy="246888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92040" y="2404872"/>
            <a:ext cx="2468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0A1E"/>
                </a:solidFill>
                <a:latin typeface="Calibri"/>
              </a:rPr>
              <a:t>spiralArm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9512" y="23682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螺旋臂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9512" y="2642615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offset += Δθ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2368296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80A8"/>
                </a:solidFill>
                <a:latin typeface="Calibri"/>
              </a:rPr>
              <a:t>轉轉轉（每幀）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246120"/>
            <a:ext cx="4251960" cy="74980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57200" y="3319272"/>
            <a:ext cx="246888" cy="246888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3319272"/>
            <a:ext cx="2468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0A1E"/>
                </a:solidFill>
                <a:latin typeface="Calibri"/>
              </a:rPr>
              <a:t>homingBullets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32826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追蹤彈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3557015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lerp angle to target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282696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80A8"/>
                </a:solidFill>
                <a:latin typeface="Calibri"/>
              </a:rPr>
              <a:t>自動追蹤玩家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00600" y="3246120"/>
            <a:ext cx="4251960" cy="74980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892040" y="3319272"/>
            <a:ext cx="246888" cy="24688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892040" y="3319272"/>
            <a:ext cx="2468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0A1E"/>
                </a:solidFill>
                <a:latin typeface="Calibri"/>
              </a:rPr>
              <a:t>waveBullets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9512" y="32826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波動彈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9512" y="3557015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sin(phase) × amp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3282696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80A8"/>
                </a:solidFill>
                <a:latin typeface="Calibri"/>
              </a:rPr>
              <a:t>蛇形軌跡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4160520"/>
            <a:ext cx="4251960" cy="74980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57200" y="4233672"/>
            <a:ext cx="246888" cy="246888"/>
          </a:xfrm>
          <a:prstGeom prst="ellipse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4233672"/>
            <a:ext cx="2468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0A1E"/>
                </a:solidFill>
                <a:latin typeface="Calibri"/>
              </a:rPr>
              <a:t>starBurst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1970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星爆交錯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47141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快/慢/快/慢...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4197096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80A8"/>
                </a:solidFill>
                <a:latin typeface="Calibri"/>
              </a:rPr>
              <a:t>交替速度環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00600" y="4160520"/>
            <a:ext cx="4251960" cy="749808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892040" y="4233672"/>
            <a:ext cx="246888" cy="246888"/>
          </a:xfrm>
          <a:prstGeom prst="ellipse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892040" y="4233672"/>
            <a:ext cx="2468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0A1E"/>
                </a:solidFill>
                <a:latin typeface="Calibri"/>
              </a:rPr>
              <a:t>butterflySpray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9512" y="41970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蝴蝶散射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9512" y="447141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sin(t) × π × 0.4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2440" y="4197096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80A8"/>
                </a:solidFill>
                <a:latin typeface="Calibri"/>
              </a:rPr>
              <a:t>蝴蝶型 8 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137160"/>
            <a:ext cx="2103120" cy="365760"/>
          </a:xfrm>
          <a:prstGeom prst="roundRect">
            <a:avLst/>
          </a:prstGeom>
          <a:solidFill>
            <a:srgbClr val="9B5DE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子彈物理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4 種子彈運動型別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8412480" cy="2743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4251960" cy="16276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490472"/>
            <a:ext cx="914400" cy="292608"/>
          </a:xfrm>
          <a:prstGeom prst="roundRect">
            <a:avLst/>
          </a:prstGeom>
          <a:solidFill>
            <a:srgbClr val="00BBF9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9047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0A1E"/>
                </a:solidFill>
                <a:latin typeface="Calibri"/>
              </a:rPr>
              <a:t>type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49047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直線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856232"/>
            <a:ext cx="4069080" cy="56692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892808"/>
            <a:ext cx="3886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5D4"/>
                </a:solidFill>
                <a:latin typeface="Courier New"/>
              </a:rPr>
              <a:t>x += vx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75688"/>
            <a:ext cx="3886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5D4"/>
                </a:solidFill>
                <a:latin typeface="Courier New"/>
              </a:rPr>
              <a:t>y += vy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459736"/>
            <a:ext cx="4069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B80A8"/>
                </a:solidFill>
                <a:latin typeface="Calibri"/>
              </a:rPr>
              <a:t>基礎：恆速直線移動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0" y="1417320"/>
            <a:ext cx="4251960" cy="16276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892040" y="1490472"/>
            <a:ext cx="914400" cy="292608"/>
          </a:xfrm>
          <a:prstGeom prst="roundRect">
            <a:avLst/>
          </a:prstGeom>
          <a:solidFill>
            <a:srgbClr val="F15BB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92040" y="149047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0A1E"/>
                </a:solidFill>
                <a:latin typeface="Calibri"/>
              </a:rPr>
              <a:t>type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149047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追蹤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1856232"/>
            <a:ext cx="4069080" cy="56692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83480" y="1892808"/>
            <a:ext cx="3886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5D4"/>
                </a:solidFill>
                <a:latin typeface="Courier New"/>
              </a:rPr>
              <a:t>t = atan2(py-y, px-x)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075688"/>
            <a:ext cx="3886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5D4"/>
                </a:solidFill>
                <a:latin typeface="Courier New"/>
              </a:rPr>
              <a:t>angle += lerp(angle, 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459736"/>
            <a:ext cx="4069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B80A8"/>
                </a:solidFill>
                <a:latin typeface="Calibri"/>
              </a:rPr>
              <a:t>每幀朝玩家轉向，turnRate 控制反應度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227832"/>
            <a:ext cx="4251960" cy="16276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7200" y="3300984"/>
            <a:ext cx="914400" cy="292608"/>
          </a:xfrm>
          <a:prstGeom prst="roundRect">
            <a:avLst/>
          </a:prstGeom>
          <a:solidFill>
            <a:srgbClr val="00F5D4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3300984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0A1E"/>
                </a:solidFill>
                <a:latin typeface="Calibri"/>
              </a:rPr>
              <a:t>type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330098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波動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666744"/>
            <a:ext cx="4069080" cy="56692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3703320"/>
            <a:ext cx="3886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5D4"/>
                </a:solidFill>
                <a:latin typeface="Courier New"/>
              </a:rPr>
              <a:t>phase += freq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86200"/>
            <a:ext cx="3886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5D4"/>
                </a:solidFill>
                <a:latin typeface="Courier New"/>
              </a:rPr>
              <a:t>perp_offset = sin(phase) × amp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270248"/>
            <a:ext cx="4069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B80A8"/>
                </a:solidFill>
                <a:latin typeface="Calibri"/>
              </a:rPr>
              <a:t>垂直軸施加正弦波，頻率&amp;振幅可調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0600" y="3227832"/>
            <a:ext cx="4251960" cy="16276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892040" y="3300984"/>
            <a:ext cx="914400" cy="292608"/>
          </a:xfrm>
          <a:prstGeom prst="roundRect">
            <a:avLst/>
          </a:prstGeom>
          <a:solidFill>
            <a:srgbClr val="FEE44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92040" y="3300984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0A1E"/>
                </a:solidFill>
                <a:latin typeface="Calibri"/>
              </a:rPr>
              <a:t>type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7880" y="330098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加速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92040" y="3666744"/>
            <a:ext cx="4069080" cy="56692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83480" y="3703320"/>
            <a:ext cx="3886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5D4"/>
                </a:solidFill>
                <a:latin typeface="Courier New"/>
              </a:rPr>
              <a:t>speed += accel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886200"/>
            <a:ext cx="3886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5D4"/>
                </a:solidFill>
                <a:latin typeface="Courier New"/>
              </a:rPr>
              <a:t>move by speed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4270248"/>
            <a:ext cx="4069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B80A8"/>
                </a:solidFill>
                <a:latin typeface="Calibri"/>
              </a:rPr>
              <a:t>每幀加速，可用負 accel 造成延遲引爆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137160"/>
            <a:ext cx="2103120" cy="365760"/>
          </a:xfrm>
          <a:prstGeom prst="roundRect">
            <a:avLst/>
          </a:prstGeom>
          <a:solidFill>
            <a:srgbClr val="9B5DE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04 EXP 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5 項技能樹與升級邏輯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8412480" cy="2743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4389120" cy="3429000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7558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 err="1">
                <a:solidFill>
                  <a:srgbClr val="C77DFF"/>
                </a:solidFill>
                <a:latin typeface="Calibri"/>
              </a:rPr>
              <a:t>升級公式與效果</a:t>
            </a:r>
            <a:endParaRPr sz="1300" b="1" i="0" dirty="0">
              <a:solidFill>
                <a:srgbClr val="C77D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17220" y="153619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升級所需：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25980" y="1522476"/>
            <a:ext cx="2377440" cy="29260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17420" y="15361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expNext = 1000 + level × 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190195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刷掠獲得：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25980" y="1888236"/>
            <a:ext cx="2377440" cy="29260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17420" y="190195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graze += 5 per bullet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" y="22677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擊殺敵人：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5980" y="2253996"/>
            <a:ext cx="2377440" cy="29260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217420" y="226771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exp = 50 × (type+1) × (diff+1)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" y="263347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Boss EXP：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25980" y="2619756"/>
            <a:ext cx="2377440" cy="29260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7420" y="263347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exp = 5000 × (diff+1)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" y="299923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射速技能：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5980" y="2985516"/>
            <a:ext cx="2377440" cy="29260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217420" y="299923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speed_mult = 1.0 + lvl × 0.15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" y="336499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射頻技能：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25980" y="3351276"/>
            <a:ext cx="2377440" cy="29260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17420" y="33649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00F5D4"/>
                </a:solidFill>
                <a:latin typeface="Courier New"/>
              </a:rPr>
              <a:t>cooldown -= </a:t>
            </a:r>
            <a:r>
              <a:rPr sz="850" b="0" i="0" dirty="0" err="1">
                <a:solidFill>
                  <a:srgbClr val="00F5D4"/>
                </a:solidFill>
                <a:latin typeface="Courier New"/>
              </a:rPr>
              <a:t>lvl</a:t>
            </a:r>
            <a:r>
              <a:rPr sz="850" b="0" i="0" dirty="0">
                <a:solidFill>
                  <a:srgbClr val="00F5D4"/>
                </a:solidFill>
                <a:latin typeface="Courier New"/>
              </a:rPr>
              <a:t> × 2 (min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373075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生命技能：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25980" y="3717036"/>
            <a:ext cx="2377440" cy="29260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217420" y="373075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max_life += lvl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" y="40965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炸彈技能：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25980" y="4082796"/>
            <a:ext cx="2377440" cy="29260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17420" y="409651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bomb_dmg × (1.0 + lvl × 0.2)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" y="446227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刷掠技能：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25980" y="4448556"/>
            <a:ext cx="2377440" cy="292608"/>
          </a:xfrm>
          <a:prstGeom prst="roundRect">
            <a:avLst/>
          </a:prstGeom>
          <a:solidFill>
            <a:srgbClr val="0A0718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17420" y="446227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graze_radius × (1.0 + lvl × 0.1)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1508760"/>
            <a:ext cx="3886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Lv 1-10 升級 EXP 需求</a:t>
            </a:r>
          </a:p>
        </p:txBody>
      </p:sp>
      <p:graphicFrame>
        <p:nvGraphicFramePr>
          <p:cNvPr id="36" name="Chart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929674"/>
              </p:ext>
            </p:extLst>
          </p:nvPr>
        </p:nvGraphicFramePr>
        <p:xfrm>
          <a:off x="4754880" y="1810512"/>
          <a:ext cx="40233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137160"/>
            <a:ext cx="2103120" cy="365760"/>
          </a:xfrm>
          <a:prstGeom prst="roundRect">
            <a:avLst/>
          </a:prstGeom>
          <a:solidFill>
            <a:srgbClr val="9B5DE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05 敵人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敵人生命週期與行為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8412480" cy="2743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1572768" cy="868680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499616"/>
            <a:ext cx="457200" cy="457200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0A1E"/>
                </a:solidFill>
                <a:latin typeface="Calibri"/>
              </a:rPr>
              <a:t>負 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93392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age = -(i × 15)
錯開延遲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8528" y="1737360"/>
            <a:ext cx="146304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84831" y="1417320"/>
            <a:ext cx="1572768" cy="868680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642615" y="1499616"/>
            <a:ext cx="457200" cy="457200"/>
          </a:xfrm>
          <a:prstGeom prst="ellipse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42615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0A1E"/>
                </a:solidFill>
                <a:latin typeface="Calibri"/>
              </a:rPr>
              <a:t>進場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1993392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age &lt; 60
依 vx/vy 飛入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737360"/>
            <a:ext cx="146304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803904" y="1417320"/>
            <a:ext cx="1572768" cy="868680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361688" y="1499616"/>
            <a:ext cx="457200" cy="457200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61688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0A1E"/>
                </a:solidFill>
                <a:latin typeface="Calibri"/>
              </a:rPr>
              <a:t>減速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5344" y="1993392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60 ≤ age &lt; 120
vx *= 0.95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76672" y="1737360"/>
            <a:ext cx="146304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522976" y="1417320"/>
            <a:ext cx="1572768" cy="868680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080760" y="1499616"/>
            <a:ext cx="457200" cy="457200"/>
          </a:xfrm>
          <a:prstGeom prst="ellipse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80760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0A1E"/>
                </a:solidFill>
                <a:latin typeface="Calibri"/>
              </a:rPr>
              <a:t>巡邏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14416" y="1993392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age ≥ 120
x = sin(t) × 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5744" y="1737360"/>
            <a:ext cx="146304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242048" y="1417320"/>
            <a:ext cx="1572768" cy="868680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799831" y="1499616"/>
            <a:ext cx="457200" cy="457200"/>
          </a:xfrm>
          <a:prstGeom prst="ellipse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99831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0A1E"/>
                </a:solidFill>
                <a:latin typeface="Calibri"/>
              </a:rPr>
              <a:t>消失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3488" y="1993392"/>
            <a:ext cx="1389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age ≥ maxAge
active = false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24231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各敵人類型的生存時間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65760" y="2697480"/>
          <a:ext cx="4754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敵人類型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maxAge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存活秒數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射擊間隔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type 0 仙子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480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8.0 秒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100 幀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type 1 妖怪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10.0 秒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90 幀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type 2 頭目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12.0 秒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70 幀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5443982" y="2368296"/>
            <a:ext cx="3017520" cy="2756916"/>
          </a:xfrm>
          <a:prstGeom prst="roundRect">
            <a:avLst/>
          </a:prstGeom>
          <a:solidFill>
            <a:srgbClr val="130D22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535422" y="24597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F5D4"/>
                </a:solidFill>
                <a:latin typeface="Calibri"/>
              </a:rPr>
              <a:t>錯開生成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5422" y="2779776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F5D4"/>
                </a:solidFill>
                <a:latin typeface="Courier New"/>
              </a:rPr>
              <a:t>for (int i = 0; i &lt; n; i++) {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5422" y="2967228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F5D4"/>
                </a:solidFill>
                <a:latin typeface="Courier New"/>
              </a:rPr>
              <a:t>  Enemy en = new Enemy(...);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5422" y="3154680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F5D4"/>
                </a:solidFill>
                <a:latin typeface="Courier New"/>
              </a:rPr>
              <a:t>  en.age = -(i * 15);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5422" y="3342132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  // 每隻差 15 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5422" y="3529584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dirty="0">
                <a:solidFill>
                  <a:srgbClr val="00F5D4"/>
                </a:solidFill>
                <a:latin typeface="Courier New"/>
              </a:rPr>
              <a:t>  </a:t>
            </a:r>
            <a:r>
              <a:rPr sz="800" b="0" i="0" dirty="0" err="1">
                <a:solidFill>
                  <a:srgbClr val="00F5D4"/>
                </a:solidFill>
                <a:latin typeface="Courier New"/>
              </a:rPr>
              <a:t>enemies.add</a:t>
            </a:r>
            <a:r>
              <a:rPr sz="800" b="0" i="0" dirty="0">
                <a:solidFill>
                  <a:srgbClr val="00F5D4"/>
                </a:solidFill>
                <a:latin typeface="Courier New"/>
              </a:rPr>
              <a:t>(</a:t>
            </a:r>
            <a:r>
              <a:rPr sz="800" b="0" i="0" dirty="0" err="1">
                <a:solidFill>
                  <a:srgbClr val="00F5D4"/>
                </a:solidFill>
                <a:latin typeface="Courier New"/>
              </a:rPr>
              <a:t>en</a:t>
            </a:r>
            <a:r>
              <a:rPr sz="800" b="0" i="0" dirty="0">
                <a:solidFill>
                  <a:srgbClr val="00F5D4"/>
                </a:solidFill>
                <a:latin typeface="Courier New"/>
              </a:rPr>
              <a:t>);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5422" y="3717036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F5D4"/>
                </a:solidFill>
                <a:latin typeface="Courier New"/>
              </a:rPr>
              <a:t>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35422" y="3876495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// update() 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5422" y="4063947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F5D4"/>
                </a:solidFill>
                <a:latin typeface="Courier New"/>
              </a:rPr>
              <a:t>if (age &lt;= 0) return; // 未出生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5422" y="4438852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F5D4"/>
                </a:solidFill>
                <a:latin typeface="Courier New"/>
              </a:rPr>
              <a:t>if (age &gt;= maxAge) {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5422" y="4626304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F5D4"/>
                </a:solidFill>
                <a:latin typeface="Courier New"/>
              </a:rPr>
              <a:t>  active = false;   // 到期消失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5422" y="4813756"/>
            <a:ext cx="2743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dirty="0">
                <a:solidFill>
                  <a:srgbClr val="00F5D4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137160"/>
            <a:ext cx="2103120" cy="365760"/>
          </a:xfrm>
          <a:prstGeom prst="roundRect">
            <a:avLst/>
          </a:prstGeom>
          <a:solidFill>
            <a:srgbClr val="9B5DE5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06 實驗結果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效能驗證與難度平衡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8412480" cy="2743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難度參數與子彈密度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9928"/>
          <a:ext cx="47548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F0A1E"/>
                          </a:solidFill>
                          <a:latin typeface="Calibri"/>
                        </a:rPr>
                        <a:t>難度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F0A1E"/>
                          </a:solidFill>
                          <a:latin typeface="Calibri"/>
                        </a:rPr>
                        <a:t>子彈速度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F0A1E"/>
                          </a:solidFill>
                          <a:latin typeface="Calibri"/>
                        </a:rPr>
                        <a:t>子彈數量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F0A1E"/>
                          </a:solidFill>
                          <a:latin typeface="Calibri"/>
                        </a:rPr>
                        <a:t>敵人頻率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Easy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0.65×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6-8 發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0.78×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7-9 發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Hard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0.91×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8-10 發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高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Lunatic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1.04×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10-12 發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F0EAF8"/>
                          </a:solidFill>
                          <a:latin typeface="Calibri"/>
                        </a:rPr>
                        <a:t>非常高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20640" y="1417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效能指標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709928"/>
            <a:ext cx="3657600" cy="7132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20640" y="1709928"/>
            <a:ext cx="73152" cy="713232"/>
          </a:xfrm>
          <a:prstGeom prst="rect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57800" y="1755648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B80A8"/>
                </a:solidFill>
                <a:latin typeface="Calibri"/>
              </a:rPr>
              <a:t>最大同時子彈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0299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EE440"/>
                </a:solidFill>
                <a:latin typeface="Calibri"/>
              </a:rPr>
              <a:t>~ 400 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514600"/>
            <a:ext cx="3657600" cy="7132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2514600"/>
            <a:ext cx="73152" cy="713232"/>
          </a:xfrm>
          <a:prstGeom prst="rect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2560320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B80A8"/>
                </a:solidFill>
                <a:latin typeface="Calibri"/>
              </a:rPr>
              <a:t>碰撞檢測耗時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8346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7CC99"/>
                </a:solidFill>
                <a:latin typeface="Calibri"/>
              </a:rPr>
              <a:t>&lt; 1ms / frame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3319272"/>
            <a:ext cx="3657600" cy="7132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120640" y="3319272"/>
            <a:ext cx="73152" cy="713232"/>
          </a:xfrm>
          <a:prstGeom prst="rect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57800" y="3364991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B80A8"/>
                </a:solidFill>
                <a:latin typeface="Calibri"/>
              </a:rPr>
              <a:t>FPS 穩定度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63931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BF9"/>
                </a:solidFill>
                <a:latin typeface="Calibri"/>
              </a:rPr>
              <a:t>60 FPS ±1%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4123944"/>
            <a:ext cx="3657600" cy="713232"/>
          </a:xfrm>
          <a:prstGeom prst="roundRect">
            <a:avLst/>
          </a:prstGeom>
          <a:solidFill>
            <a:srgbClr val="1A1230"/>
          </a:solidFill>
          <a:ln w="6350">
            <a:solidFill>
              <a:srgbClr val="2A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120640" y="4123944"/>
            <a:ext cx="73152" cy="71323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57800" y="4169663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B80A8"/>
                </a:solidFill>
                <a:latin typeface="Calibri"/>
              </a:rPr>
              <a:t>記憶體占用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4425695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5D4"/>
                </a:solidFill>
                <a:latin typeface="Calibri"/>
              </a:rPr>
              <a:t>&lt; 80 MB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612</Words>
  <Application>Microsoft Office PowerPoint</Application>
  <PresentationFormat>如螢幕大小 (16:9)</PresentationFormat>
  <Paragraphs>201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翁 祺展</cp:lastModifiedBy>
  <cp:revision>2</cp:revision>
  <dcterms:created xsi:type="dcterms:W3CDTF">2013-01-27T09:14:16Z</dcterms:created>
  <dcterms:modified xsi:type="dcterms:W3CDTF">2026-06-15T15:21:41Z</dcterms:modified>
  <cp:category/>
</cp:coreProperties>
</file>