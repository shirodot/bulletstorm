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5" r:id="rId7"/>
    <p:sldId id="260" r:id="rId8"/>
    <p:sldId id="261" r:id="rId9"/>
    <p:sldId id="262" r:id="rId10"/>
    <p:sldId id="263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660" y="-2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一般敵人</c:v>
                </c:pt>
              </c:strCache>
            </c:strRef>
          </c:tx>
          <c:spPr>
            <a:solidFill>
              <a:schemeClr val="accent1">
                <a:alpha val="70000"/>
              </a:schemeClr>
            </a:solidFill>
            <a:ln>
              <a:noFill/>
            </a:ln>
            <a:effectLst/>
          </c:spPr>
          <c:invertIfNegative val="1"/>
          <c:cat>
            <c:strRef>
              <c:f>Sheet1!$A$2:$A$5</c:f>
              <c:strCache>
                <c:ptCount val="4"/>
                <c:pt idx="0">
                  <c:v>Easy</c:v>
                </c:pt>
                <c:pt idx="1">
                  <c:v>Normal</c:v>
                </c:pt>
                <c:pt idx="2">
                  <c:v>Hard</c:v>
                </c:pt>
                <c:pt idx="3">
                  <c:v>Lunatic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</c:v>
                </c:pt>
                <c:pt idx="1">
                  <c:v>1.7</c:v>
                </c:pt>
                <c:pt idx="2">
                  <c:v>2.2000000000000002</c:v>
                </c:pt>
                <c:pt idx="3">
                  <c:v>2.8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0-ACF5-4F13-96BF-C44FCCF754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Boss 戰</c:v>
                </c:pt>
              </c:strCache>
            </c:strRef>
          </c:tx>
          <c:spPr>
            <a:solidFill>
              <a:schemeClr val="accent2">
                <a:alpha val="70000"/>
              </a:schemeClr>
            </a:solidFill>
            <a:ln>
              <a:noFill/>
            </a:ln>
            <a:effectLst/>
          </c:spPr>
          <c:invertIfNegative val="1"/>
          <c:cat>
            <c:strRef>
              <c:f>Sheet1!$A$2:$A$5</c:f>
              <c:strCache>
                <c:ptCount val="4"/>
                <c:pt idx="0">
                  <c:v>Easy</c:v>
                </c:pt>
                <c:pt idx="1">
                  <c:v>Normal</c:v>
                </c:pt>
                <c:pt idx="2">
                  <c:v>Hard</c:v>
                </c:pt>
                <c:pt idx="3">
                  <c:v>Lunatic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2.5</c:v>
                </c:pt>
                <c:pt idx="1">
                  <c:v>3.8</c:v>
                </c:pt>
                <c:pt idx="2">
                  <c:v>5.2</c:v>
                </c:pt>
                <c:pt idx="3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1-ACF5-4F13-96BF-C44FCCF754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2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1587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23360" y="2011679"/>
            <a:ext cx="1097280" cy="1097280"/>
          </a:xfrm>
          <a:prstGeom prst="ellipse">
            <a:avLst/>
          </a:prstGeom>
          <a:noFill/>
          <a:ln w="12700">
            <a:solidFill>
              <a:srgbClr val="501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794760" y="1783079"/>
            <a:ext cx="1554480" cy="1554480"/>
          </a:xfrm>
          <a:prstGeom prst="ellipse">
            <a:avLst/>
          </a:prstGeom>
          <a:noFill/>
          <a:ln w="12700">
            <a:solidFill>
              <a:srgbClr val="5A19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566160" y="1554479"/>
            <a:ext cx="2011680" cy="2011680"/>
          </a:xfrm>
          <a:prstGeom prst="ellipse">
            <a:avLst/>
          </a:prstGeom>
          <a:noFill/>
          <a:ln w="12700">
            <a:solidFill>
              <a:srgbClr val="641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3337560" y="1325879"/>
            <a:ext cx="2468880" cy="2468880"/>
          </a:xfrm>
          <a:prstGeom prst="ellipse">
            <a:avLst/>
          </a:prstGeom>
          <a:noFill/>
          <a:ln w="12700">
            <a:solidFill>
              <a:srgbClr val="6E23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08960" y="1097279"/>
            <a:ext cx="2926080" cy="2926080"/>
          </a:xfrm>
          <a:prstGeom prst="ellipse">
            <a:avLst/>
          </a:prstGeom>
          <a:noFill/>
          <a:ln w="12700">
            <a:solidFill>
              <a:srgbClr val="7828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880360" y="868679"/>
            <a:ext cx="3383280" cy="3383280"/>
          </a:xfrm>
          <a:prstGeom prst="ellipse">
            <a:avLst/>
          </a:prstGeom>
          <a:noFill/>
          <a:ln w="12700">
            <a:solidFill>
              <a:srgbClr val="822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651760" y="640079"/>
            <a:ext cx="3840480" cy="3840480"/>
          </a:xfrm>
          <a:prstGeom prst="ellipse">
            <a:avLst/>
          </a:prstGeom>
          <a:noFill/>
          <a:ln w="12700">
            <a:solidFill>
              <a:srgbClr val="8C3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423160" y="411479"/>
            <a:ext cx="4297680" cy="4297680"/>
          </a:xfrm>
          <a:prstGeom prst="ellipse">
            <a:avLst/>
          </a:prstGeom>
          <a:noFill/>
          <a:ln w="12700">
            <a:solidFill>
              <a:srgbClr val="963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194560" y="182879"/>
            <a:ext cx="4754880" cy="4754880"/>
          </a:xfrm>
          <a:prstGeom prst="ellipse">
            <a:avLst/>
          </a:prstGeom>
          <a:noFill/>
          <a:ln w="12700">
            <a:solidFill>
              <a:srgbClr val="A03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65960" y="-45720"/>
            <a:ext cx="5212080" cy="5212080"/>
          </a:xfrm>
          <a:prstGeom prst="ellipse">
            <a:avLst/>
          </a:prstGeom>
          <a:noFill/>
          <a:ln w="12700">
            <a:solidFill>
              <a:srgbClr val="AA4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47472"/>
            <a:ext cx="2926080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4747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EAF8"/>
                </a:solidFill>
                <a:latin typeface="Calibri"/>
              </a:rPr>
              <a:t>BULLET STORM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0058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0EAF8"/>
                </a:solidFill>
                <a:latin typeface="Calibri"/>
              </a:rPr>
              <a:t>演算法設計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148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77DFF"/>
                </a:solidFill>
                <a:latin typeface="Calibri"/>
              </a:rPr>
              <a:t>Algorithm Design &amp; Internal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0A8"/>
                </a:solidFill>
                <a:latin typeface="Calibri"/>
              </a:rPr>
              <a:t>Project Motivation  ·  System Architecture  ·  Technologies Used  ·  Experimental Results  ·  Future Improvements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37560"/>
            <a:ext cx="1874519" cy="804672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337413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F5D4"/>
                </a:solidFill>
                <a:latin typeface="Calibri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0A8"/>
                </a:solidFill>
                <a:latin typeface="Calibri"/>
              </a:rPr>
              <a:t>彈幕演算法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4600" y="3337560"/>
            <a:ext cx="1874519" cy="804672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514600" y="337413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F5D4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0A8"/>
                </a:solidFill>
                <a:latin typeface="Calibri"/>
              </a:rPr>
              <a:t>運動類型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337560"/>
            <a:ext cx="1874519" cy="804672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63440" y="337413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F5D4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0A8"/>
                </a:solidFill>
                <a:latin typeface="Calibri"/>
              </a:rPr>
              <a:t>技能樹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3337560"/>
            <a:ext cx="1874519" cy="804672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12280" y="337413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F5D4"/>
                </a:solidFill>
                <a:latin typeface="Calibri"/>
              </a:rPr>
              <a:t>Lv 1-99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0A8"/>
                </a:solidFill>
                <a:latin typeface="Calibri"/>
              </a:rPr>
              <a:t>EXP 系統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01  Project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專案動機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8412480" cy="749808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" y="1618488"/>
            <a:ext cx="292608" cy="292608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AF8"/>
                </a:solidFill>
                <a:latin typeface="Calibri"/>
              </a:rPr>
              <a:t>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數學密集型運算挑戰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0A8"/>
                </a:solidFill>
                <a:latin typeface="Calibri"/>
              </a:rPr>
              <a:t>三角函數、向量、參數方程式在每幀執行數百次——60fps × 400 顆子彈 = 每秒 24,000 次物理計算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67712"/>
            <a:ext cx="8412480" cy="749808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496312"/>
            <a:ext cx="292608" cy="292608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49631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AF8"/>
                </a:solidFill>
                <a:latin typeface="Calibri"/>
              </a:rPr>
              <a:t>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40864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碰撞偵測的效能壓力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15184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0A8"/>
                </a:solidFill>
                <a:latin typeface="Calibri"/>
              </a:rPr>
              <a:t>子彈 × 玩家 × 敵人的 O(n²) 判定，需透過早期終止與延遲清除讓每幀維持在 1ms 以內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45536"/>
            <a:ext cx="8412480" cy="749808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02920" y="3374136"/>
            <a:ext cx="292608" cy="292608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37413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AF8"/>
                </a:solidFill>
                <a:latin typeface="Calibri"/>
              </a:rPr>
              <a:t>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1868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敵人行為的演算法設計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9300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0A8"/>
                </a:solidFill>
                <a:latin typeface="Calibri"/>
              </a:rPr>
              <a:t>入場路徑、巡邏 AI、多階段射擊時機，全都需要有狀態的決策邏輯驅動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23360"/>
            <a:ext cx="8412480" cy="749808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02920" y="4251960"/>
            <a:ext cx="292608" cy="292608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251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AF8"/>
                </a:solidFill>
                <a:latin typeface="Calibri"/>
              </a:rPr>
              <a:t>||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9651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難度的多維度平衡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37083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0A8"/>
                </a:solidFill>
                <a:latin typeface="Calibri"/>
              </a:rPr>
              <a:t>速度、數量、頻率三個軸同步調整，設計出難度曲線平滑遞增、不讓玩家感覺突然跳難的系統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75488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B80A8"/>
                </a:solidFill>
                <a:latin typeface="Calibri"/>
              </a:rPr>
              <a:t>目標：僅用標準 Java，以可組合的靜態演算法庫實現 8 種彈幕 × 4 種物理 × 5 種技能升級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02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核心類別架構與物件關係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0440" y="1555528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02736" y="1615627"/>
            <a:ext cx="2139696" cy="29260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93592" y="1619536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 err="1">
                <a:solidFill>
                  <a:srgbClr val="0F0A1E"/>
                </a:solidFill>
                <a:latin typeface="Calibri"/>
              </a:rPr>
              <a:t>GamePanel</a:t>
            </a:r>
            <a:endParaRPr sz="1100" b="1" i="0" dirty="0">
              <a:solidFill>
                <a:srgbClr val="0F0A1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11880" y="195786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主迴圈 60fps
遊戲狀態管理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07742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" y="2571750"/>
            <a:ext cx="2139696" cy="292608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" y="2571750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BulletPattern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1007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8 種演算法庫
(static，無狀態)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514600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593592" y="2578608"/>
            <a:ext cx="2139696" cy="292608"/>
          </a:xfrm>
          <a:prstGeom prst="rect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592" y="2578608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Boss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9169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5 階段 Boss AI
呼叫 BulletPattern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514600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65392" y="2578608"/>
            <a:ext cx="2139696" cy="292608"/>
          </a:xfrm>
          <a:prstGeom prst="rect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65392" y="2578608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Enemy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9169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3 類敵人 + AI
自動生成與消失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05022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" y="3669030"/>
            <a:ext cx="2139696" cy="292608"/>
          </a:xfrm>
          <a:prstGeom prst="rect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" y="3669030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Bullet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0735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通用子彈 type 0-3
所有子彈共用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20440" y="3611880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593592" y="3675888"/>
            <a:ext cx="2139696" cy="292608"/>
          </a:xfrm>
          <a:prstGeom prst="rect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93592" y="3675888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Player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01421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玩家控制
整合 EXP 系統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611880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65392" y="3675888"/>
            <a:ext cx="2139696" cy="292608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65392" y="3675888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ExperienceSystem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79" y="401421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5 項技能
自動/手動升級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3284982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663440" y="3291840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635240" y="3291840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 flipV="1">
            <a:off x="1652589" y="1944147"/>
            <a:ext cx="1867852" cy="45719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B80A8"/>
                </a:solidFill>
                <a:latin typeface="Calibri"/>
              </a:rPr>
              <a:t>BulletPattern 為純靜態工具類（無實例化），Enemy 與 Boss 傳入參數即回傳 List&lt;Bullet&gt;，達成演算法複用與解耦。</a:t>
            </a:r>
          </a:p>
        </p:txBody>
      </p:sp>
      <p:sp>
        <p:nvSpPr>
          <p:cNvPr id="41" name="Rectangle 35">
            <a:extLst>
              <a:ext uri="{FF2B5EF4-FFF2-40B4-BE49-F238E27FC236}">
                <a16:creationId xmlns:a16="http://schemas.microsoft.com/office/drawing/2014/main" id="{EAC7FDD4-B7C9-392E-D5C5-F3CA9469B5A5}"/>
              </a:ext>
            </a:extLst>
          </p:cNvPr>
          <p:cNvSpPr/>
          <p:nvPr/>
        </p:nvSpPr>
        <p:spPr>
          <a:xfrm flipV="1">
            <a:off x="5785676" y="1932194"/>
            <a:ext cx="1867852" cy="45719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34">
            <a:extLst>
              <a:ext uri="{FF2B5EF4-FFF2-40B4-BE49-F238E27FC236}">
                <a16:creationId xmlns:a16="http://schemas.microsoft.com/office/drawing/2014/main" id="{F41C6E1A-8DDD-4E17-64D2-5E0588C21FC6}"/>
              </a:ext>
            </a:extLst>
          </p:cNvPr>
          <p:cNvSpPr/>
          <p:nvPr/>
        </p:nvSpPr>
        <p:spPr>
          <a:xfrm>
            <a:off x="7635240" y="2122456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34">
            <a:extLst>
              <a:ext uri="{FF2B5EF4-FFF2-40B4-BE49-F238E27FC236}">
                <a16:creationId xmlns:a16="http://schemas.microsoft.com/office/drawing/2014/main" id="{5147054C-D6C2-E2D2-3E10-8A66276820BE}"/>
              </a:ext>
            </a:extLst>
          </p:cNvPr>
          <p:cNvSpPr/>
          <p:nvPr/>
        </p:nvSpPr>
        <p:spPr>
          <a:xfrm>
            <a:off x="1524000" y="2133981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8 種彈幕生成演算法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1463040"/>
            <a:ext cx="256032" cy="25603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26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環形爆散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0078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circularBurst()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42646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θᵢ = θ₀ + i×(2π/n)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700784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全向 n 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389888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892040" y="1463040"/>
            <a:ext cx="256032" cy="256032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57800" y="1426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瞄準扇射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70078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aimedSpread()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142646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base = atan2(Δy,Δx) ± spread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700784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鎖定玩家扇形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86000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57200" y="2359152"/>
            <a:ext cx="256032" cy="256032"/>
          </a:xfrm>
          <a:prstGeom prst="ellipse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232257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雙環交轉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596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doubleRing()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32257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outer_v &gt; 0, inner_v &lt;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2596896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外快內慢對向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2286000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892040" y="2359152"/>
            <a:ext cx="256032" cy="256032"/>
          </a:xfrm>
          <a:prstGeom prst="ellipse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57800" y="232257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螺旋臂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596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spiralArm()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232257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offset += Δθ per frame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596896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每幀遞增旋轉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82112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57200" y="3255264"/>
            <a:ext cx="256032" cy="256032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32186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追蹤彈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9300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homingBullets()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321868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angle = lerp(angle, target, 0.05)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3493008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自動追蹤玩家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3182112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892040" y="3255264"/>
            <a:ext cx="256032" cy="256032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257800" y="32186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波動彈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49300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waveBullets()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321868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offset = sin(phase) × amp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493008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蛇形軌跡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078224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57200" y="4151376"/>
            <a:ext cx="256032" cy="25603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2960" y="4114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星爆交錯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38912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starBurst()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411480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i%2==0→fast, i%2==1→slow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7440" y="4389120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交替速度環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078224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92040" y="4151376"/>
            <a:ext cx="256032" cy="256032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257800" y="4114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蝴蝶散射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438912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butterflySpray()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80" y="411480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spread = sin(t) × π × 0.4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4389120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蝴蝶型 8 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0EAF8"/>
                </a:solidFill>
                <a:latin typeface="Calibri"/>
              </a:rPr>
              <a:t>演算法實機畫面：8 </a:t>
            </a:r>
            <a:r>
              <a:rPr sz="2600" b="1" i="0" dirty="0" err="1">
                <a:solidFill>
                  <a:srgbClr val="F0EAF8"/>
                </a:solidFill>
                <a:latin typeface="Calibri"/>
              </a:rPr>
              <a:t>種彈幕</a:t>
            </a:r>
            <a:endParaRPr sz="2600" b="1" i="0" dirty="0">
              <a:solidFill>
                <a:srgbClr val="F0EAF8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C77DFF"/>
                </a:solidFill>
                <a:latin typeface="Calibri"/>
              </a:rPr>
              <a:t>以下皆由遊戲原始</a:t>
            </a:r>
            <a:r>
              <a:rPr sz="1200" b="0" i="0" dirty="0">
                <a:solidFill>
                  <a:srgbClr val="C77DFF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C77DFF"/>
                </a:solidFill>
                <a:latin typeface="Calibri"/>
              </a:rPr>
              <a:t>BulletPattern</a:t>
            </a:r>
            <a:r>
              <a:rPr sz="1200" b="0" i="0" dirty="0">
                <a:solidFill>
                  <a:srgbClr val="C77DFF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C77DFF"/>
                </a:solidFill>
                <a:latin typeface="Calibri"/>
              </a:rPr>
              <a:t>演算法即時渲染，套用遊戲相同的發光彈芯繪製</a:t>
            </a:r>
            <a:r>
              <a:rPr sz="1200" b="0" i="0" dirty="0">
                <a:solidFill>
                  <a:srgbClr val="C77DFF"/>
                </a:solidFill>
                <a:latin typeface="Calibri"/>
              </a:rPr>
              <a:t>。</a:t>
            </a:r>
          </a:p>
        </p:txBody>
      </p:sp>
      <p:pic>
        <p:nvPicPr>
          <p:cNvPr id="6" name="Picture 5" descr="00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035" y="1303614"/>
            <a:ext cx="7111671" cy="35803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899456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B80A8"/>
                </a:solidFill>
                <a:latin typeface="Calibri"/>
              </a:rPr>
              <a:t>環形爆散 · 瞄準扇射 · 雙環交轉 · 螺旋臂　|　追蹤彈 · 波動彈 · 星爆交錯 · 蝴蝶散射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EAF8"/>
                </a:solidFill>
                <a:latin typeface="Calibri"/>
              </a:rPr>
              <a:t>重點演算法特寫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706624" cy="338328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_circular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481328"/>
            <a:ext cx="2194560" cy="2194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493776" y="3794759"/>
            <a:ext cx="182880" cy="182880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3739895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AF8"/>
                </a:solidFill>
                <a:latin typeface="Calibri"/>
              </a:rPr>
              <a:t>環形爆散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405993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urier New"/>
              </a:rPr>
              <a:t>θᵢ = θ₀ + i×(2π/n)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433425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n 發等角灑成整圈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1371600"/>
            <a:ext cx="2706624" cy="338328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4_spiralA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481328"/>
            <a:ext cx="2194560" cy="21945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300984" y="3794759"/>
            <a:ext cx="182880" cy="182880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57015" y="3739895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AF8"/>
                </a:solidFill>
                <a:latin typeface="Calibri"/>
              </a:rPr>
              <a:t>螺旋臂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9272" y="405993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urier New"/>
              </a:rPr>
              <a:t>offset += Δθ / frame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9272" y="433425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逐幀偏移→旋轉螺旋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0176" y="1371600"/>
            <a:ext cx="2706624" cy="338328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05_homingBull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481328"/>
            <a:ext cx="2194560" cy="21945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108192" y="3794759"/>
            <a:ext cx="182880" cy="182880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4224" y="3739895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AF8"/>
                </a:solidFill>
                <a:latin typeface="Calibri"/>
              </a:rPr>
              <a:t>追蹤彈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05993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urier New"/>
              </a:rPr>
              <a:t>angle = lerp(a, target, 0.05)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33425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每幀朝玩家修正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82896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B80A8"/>
                </a:solidFill>
                <a:latin typeface="Calibri"/>
              </a:rPr>
              <a:t>螺旋臂為連續多幀疊加結果；追蹤彈呈現朝右下角玩家收斂的彎曲軌跡。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子彈物理模式與 EXP 升級系統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89888"/>
            <a:ext cx="4160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77DFF"/>
                </a:solidFill>
                <a:latin typeface="Calibri"/>
              </a:rPr>
              <a:t>4 種子彈運動模式（Bullet.type 欄位）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55648"/>
            <a:ext cx="4160520" cy="69494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40080" cy="274320"/>
          </a:xfrm>
          <a:prstGeom prst="rect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0A1E"/>
                </a:solidFill>
                <a:latin typeface="Calibri"/>
              </a:rPr>
              <a:t>type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8105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AF8"/>
                </a:solidFill>
                <a:latin typeface="Calibri"/>
              </a:rPr>
              <a:t>直線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1810512"/>
            <a:ext cx="2377440" cy="58521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84831" y="184708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x += vx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208483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y += vy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1284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alibri"/>
              </a:rPr>
              <a:t>等速直線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78608"/>
            <a:ext cx="4160520" cy="69494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651760"/>
            <a:ext cx="640080" cy="274320"/>
          </a:xfrm>
          <a:prstGeom prst="rect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6517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0A1E"/>
                </a:solidFill>
                <a:latin typeface="Calibri"/>
              </a:rPr>
              <a:t>type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3347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AF8"/>
                </a:solidFill>
                <a:latin typeface="Calibri"/>
              </a:rPr>
              <a:t>追蹤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633472"/>
            <a:ext cx="2377440" cy="58521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84831" y="267004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angle → atan2(target)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1" y="2907791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clamp(Δangle, ±ω)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03580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alibri"/>
              </a:rPr>
              <a:t>漸進轉向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401568"/>
            <a:ext cx="4160520" cy="69494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474720"/>
            <a:ext cx="640080" cy="274320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34747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0A1E"/>
                </a:solidFill>
                <a:latin typeface="Calibri"/>
              </a:rPr>
              <a:t>type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45643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AF8"/>
                </a:solidFill>
                <a:latin typeface="Calibri"/>
              </a:rPr>
              <a:t>波動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3456432"/>
            <a:ext cx="2377440" cy="58521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084831" y="349300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phase += freq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4831" y="373075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perp = sin(phase)×amp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385876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alibri"/>
              </a:rPr>
              <a:t>正弦側移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224528"/>
            <a:ext cx="4160520" cy="69494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4297680"/>
            <a:ext cx="640080" cy="274320"/>
          </a:xfrm>
          <a:prstGeom prst="rect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42976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0A1E"/>
                </a:solidFill>
                <a:latin typeface="Calibri"/>
              </a:rPr>
              <a:t>type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2793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AF8"/>
                </a:solidFill>
                <a:latin typeface="Calibri"/>
              </a:rPr>
              <a:t>加速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0" y="4279392"/>
            <a:ext cx="2377440" cy="58521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084831" y="431596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speed += accel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4831" y="455371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vx,vy 依 speed 更新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46817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alibri"/>
              </a:rPr>
              <a:t>可負 accel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1389888"/>
            <a:ext cx="4069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77DFF"/>
                </a:solidFill>
                <a:latin typeface="Calibri"/>
              </a:rPr>
              <a:t>EXP 升級系統（5 項技能樹）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9160" y="17556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升級所需：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73736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72200" y="175564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expNext = 1000 + level × 500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60" y="21214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擊殺 EXP：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08192" y="210312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72200" y="212140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7CC99"/>
                </a:solidFill>
                <a:latin typeface="Courier New"/>
              </a:rPr>
              <a:t>50 × (type+1) × (diff+1)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24871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Boss EXP：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2468879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172200" y="248716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EE440"/>
                </a:solidFill>
                <a:latin typeface="Courier New"/>
              </a:rPr>
              <a:t>5000 × (diff+1)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9160" y="28529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刷掠 EXP：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83464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72200" y="285292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BBF9"/>
                </a:solidFill>
                <a:latin typeface="Courier New"/>
              </a:rPr>
              <a:t>5 / bullet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32186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射速技能：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320040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72200" y="321868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77DFF"/>
                </a:solidFill>
                <a:latin typeface="Courier New"/>
              </a:rPr>
              <a:t>speed × (1.0 + lvl×0.15)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9160" y="35844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射頻技能：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08192" y="356616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72200" y="358444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15BB5"/>
                </a:solidFill>
                <a:latin typeface="Courier New"/>
              </a:rPr>
              <a:t>cooldown -= lvl×2  (min 2)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09160" y="39502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生命技能：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08192" y="393192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72200" y="395020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7CC99"/>
                </a:solidFill>
                <a:latin typeface="Courier New"/>
              </a:rPr>
              <a:t>max_life += lvl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60" y="43159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炸彈技能：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08192" y="429768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72200" y="431596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EE440"/>
                </a:solidFill>
                <a:latin typeface="Courier New"/>
              </a:rPr>
              <a:t>bomb_dmg × (1+lvl×0.2)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9160" y="46817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刷掠技能：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466344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72200" y="468172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graze_r × (1+lvl×0.1)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敵人 AI 生命週期管理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9224" y="1481328"/>
            <a:ext cx="402336" cy="402336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 dirty="0">
                <a:solidFill>
                  <a:srgbClr val="8B80A8"/>
                </a:solidFill>
                <a:latin typeface="Courier New"/>
              </a:rPr>
              <a:t>age = -(i×15)
</a:t>
            </a:r>
            <a:r>
              <a:rPr sz="850" b="0" i="0" dirty="0" err="1">
                <a:solidFill>
                  <a:srgbClr val="8B80A8"/>
                </a:solidFill>
                <a:latin typeface="Courier New"/>
              </a:rPr>
              <a:t>錯開入場</a:t>
            </a:r>
            <a:endParaRPr sz="850" b="0" i="0" dirty="0">
              <a:solidFill>
                <a:srgbClr val="8B80A8"/>
              </a:solidFill>
              <a:latin typeface="Courier New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335024" y="1828800"/>
            <a:ext cx="91440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426464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09928" y="1481328"/>
            <a:ext cx="402336" cy="402336"/>
          </a:xfrm>
          <a:prstGeom prst="ellipse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709928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進場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&lt; 60
依 vx/vy 飛入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5728" y="1828800"/>
            <a:ext cx="91440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87168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770632" y="1481328"/>
            <a:ext cx="402336" cy="402336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70632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減速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23744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60 ≤ age &lt; 120
vx *= 0.95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6432" y="1828800"/>
            <a:ext cx="91440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547871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831335" y="1481328"/>
            <a:ext cx="402336" cy="402336"/>
          </a:xfrm>
          <a:prstGeom prst="ellipse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31335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巡邏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4447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≥ 120
sin(t)×40 擺動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7136" y="1828800"/>
            <a:ext cx="91440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608576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892040" y="1481328"/>
            <a:ext cx="402336" cy="402336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92040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消失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≥ maxAge
active = false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5146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各敵人存活時間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834640"/>
          <a:ext cx="4754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敵人類型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maxAge (幀)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存活秒數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射擊間隔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type 0 仙子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8.0 秒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100 幀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type 1 妖怪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10.0 秒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90 幀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type 2 頭目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12.0 秒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70 幀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5760720" y="1389888"/>
            <a:ext cx="3017520" cy="2816352"/>
          </a:xfrm>
          <a:prstGeom prst="rect">
            <a:avLst/>
          </a:prstGeom>
          <a:solidFill>
            <a:srgbClr val="130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852160" y="1463040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5D4"/>
                </a:solidFill>
                <a:latin typeface="Calibri"/>
              </a:rPr>
              <a:t>錯開生成演算法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1828800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for (int i = 0; i &lt; n; i++) {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2020824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  Enemy en = new Enemy(...);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2212848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  en.age = -(i * 15);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2404872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8B80A8"/>
                </a:solidFill>
                <a:latin typeface="Courier New"/>
              </a:rPr>
              <a:t>  // 每隻差 15 幀入場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96896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  enemies.add(en);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2160" y="2788920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}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0" y="2980944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8B80A8"/>
                </a:solidFill>
                <a:latin typeface="Courier New"/>
              </a:rPr>
              <a:t>// update() 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0" y="3172968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if (age &lt;= 0) return;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3364991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if (age &gt;= maxAge) {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3557015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  active = false;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3749039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04  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實驗結果：效能與難度平衡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898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各難度每秒產生子彈數量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173928"/>
              </p:ext>
            </p:extLst>
          </p:nvPr>
        </p:nvGraphicFramePr>
        <p:xfrm>
          <a:off x="365760" y="1737360"/>
          <a:ext cx="502920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577840" y="1389888"/>
            <a:ext cx="320040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577840" y="1389888"/>
            <a:ext cx="64008" cy="768096"/>
          </a:xfrm>
          <a:prstGeom prst="rect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42432" y="1426464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最大同時子彈數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2432" y="16642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EE440"/>
                </a:solidFill>
                <a:latin typeface="Calibri"/>
              </a:rPr>
              <a:t>~ 400 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2286000"/>
            <a:ext cx="320040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577840" y="2286000"/>
            <a:ext cx="64008" cy="768096"/>
          </a:xfrm>
          <a:prstGeom prst="rect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42432" y="2322576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碰撞偵測每幀耗時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42432" y="256032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7CC99"/>
                </a:solidFill>
                <a:latin typeface="Calibri"/>
              </a:rPr>
              <a:t>&lt; 1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3182112"/>
            <a:ext cx="320040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577840" y="3182112"/>
            <a:ext cx="64008" cy="768096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42432" y="3218688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幀率穩定度 ±1%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42432" y="345643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F5D4"/>
                </a:solidFill>
                <a:latin typeface="Calibri"/>
              </a:rPr>
              <a:t>60 FPS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77840" y="4078224"/>
            <a:ext cx="320040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77840" y="4078224"/>
            <a:ext cx="64008" cy="768096"/>
          </a:xfrm>
          <a:prstGeom prst="rect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42432" y="4114800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記憶體占用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42432" y="435254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BF9"/>
                </a:solidFill>
                <a:latin typeface="Calibri"/>
              </a:rPr>
              <a:t>&lt; 80 MB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18795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B80A8"/>
                </a:solidFill>
                <a:latin typeface="Calibri"/>
              </a:rPr>
              <a:t>難度公式：speedMult = (1.0 + difficulty×0.2)×0.65  |  Easy 0.65× / Normal 0.78× / Hard 0.91× / Lunatic 1.04×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05  Future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未來改進方向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2788920" cy="342900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81328"/>
            <a:ext cx="2606040" cy="438912"/>
          </a:xfrm>
          <a:prstGeom prst="rect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0A1E"/>
                </a:solidFill>
                <a:latin typeface="Calibri"/>
              </a:rPr>
              <a:t>短期  Short-term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75688"/>
            <a:ext cx="201168" cy="201168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048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空間網格分割 (Grid)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碰撞偵測由 O(n²) 降至 O(n log n)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990088"/>
            <a:ext cx="201168" cy="201168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962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物件池 (Object Pool)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186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減少 Bullet 物件 GC 壓力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904488"/>
            <a:ext cx="201168" cy="201168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877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Bezier 曲線彈道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1330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更自然的參數化子彈路徑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1389888"/>
            <a:ext cx="2788920" cy="342900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401568" y="1481328"/>
            <a:ext cx="2606040" cy="43891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01568" y="1481328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0A1E"/>
                </a:solidFill>
                <a:latin typeface="Calibri"/>
              </a:rPr>
              <a:t>中期  Mid-term</a:t>
            </a:r>
          </a:p>
        </p:txBody>
      </p:sp>
      <p:sp>
        <p:nvSpPr>
          <p:cNvPr id="20" name="Oval 19"/>
          <p:cNvSpPr/>
          <p:nvPr/>
        </p:nvSpPr>
        <p:spPr>
          <a:xfrm>
            <a:off x="3493008" y="2075688"/>
            <a:ext cx="201168" cy="201168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85616" y="2048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難度自適應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5616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依存活率動態調整子彈密度</a:t>
            </a:r>
          </a:p>
        </p:txBody>
      </p:sp>
      <p:sp>
        <p:nvSpPr>
          <p:cNvPr id="23" name="Oval 22"/>
          <p:cNvSpPr/>
          <p:nvPr/>
        </p:nvSpPr>
        <p:spPr>
          <a:xfrm>
            <a:off x="3493008" y="2990088"/>
            <a:ext cx="201168" cy="201168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85616" y="2962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Boss AI 狀態機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5616" y="32186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Idle / Attack / Enrage 三態切換</a:t>
            </a:r>
          </a:p>
        </p:txBody>
      </p:sp>
      <p:sp>
        <p:nvSpPr>
          <p:cNvPr id="26" name="Oval 25"/>
          <p:cNvSpPr/>
          <p:nvPr/>
        </p:nvSpPr>
        <p:spPr>
          <a:xfrm>
            <a:off x="3493008" y="3904488"/>
            <a:ext cx="201168" cy="201168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85616" y="3877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10+ 種技能樹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5616" y="41330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更深度的 RPG 式成長系統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1389888"/>
            <a:ext cx="2788920" cy="342900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45936" y="1481328"/>
            <a:ext cx="2606040" cy="438912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45936" y="1481328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0A1E"/>
                </a:solidFill>
                <a:latin typeface="Calibri"/>
              </a:rPr>
              <a:t>長期  Long-term</a:t>
            </a:r>
          </a:p>
        </p:txBody>
      </p:sp>
      <p:sp>
        <p:nvSpPr>
          <p:cNvPr id="32" name="Oval 31"/>
          <p:cNvSpPr/>
          <p:nvPr/>
        </p:nvSpPr>
        <p:spPr>
          <a:xfrm>
            <a:off x="6437376" y="207568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29984" y="2048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強化學習難度 (RL)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以 RL 訓練最佳難度曲線</a:t>
            </a:r>
          </a:p>
        </p:txBody>
      </p:sp>
      <p:sp>
        <p:nvSpPr>
          <p:cNvPr id="35" name="Oval 34"/>
          <p:cNvSpPr/>
          <p:nvPr/>
        </p:nvSpPr>
        <p:spPr>
          <a:xfrm>
            <a:off x="6437376" y="299008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9984" y="2962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程序生成 Boss 技能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9984" y="32186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隨機但平衡的攻擊組合</a:t>
            </a:r>
          </a:p>
        </p:txBody>
      </p:sp>
      <p:sp>
        <p:nvSpPr>
          <p:cNvPr id="38" name="Oval 37"/>
          <p:cNvSpPr/>
          <p:nvPr/>
        </p:nvSpPr>
        <p:spPr>
          <a:xfrm>
            <a:off x="6437376" y="390448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29984" y="3877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多人彈幕同步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41330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分散式狀態一致性演算法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812</Words>
  <Application>Microsoft Office PowerPoint</Application>
  <PresentationFormat>如螢幕大小 (16:9)</PresentationFormat>
  <Paragraphs>212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翁 祺展</cp:lastModifiedBy>
  <cp:revision>5</cp:revision>
  <dcterms:created xsi:type="dcterms:W3CDTF">2013-01-27T09:14:16Z</dcterms:created>
  <dcterms:modified xsi:type="dcterms:W3CDTF">2026-06-16T05:24:41Z</dcterms:modified>
  <cp:category/>
</cp:coreProperties>
</file>