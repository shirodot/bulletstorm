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-1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0" y="2560320"/>
            <a:ext cx="18288" cy="274320"/>
          </a:xfrm>
          <a:prstGeom prst="rect">
            <a:avLst/>
          </a:prstGeom>
          <a:solidFill>
            <a:srgbClr val="0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560320"/>
            <a:ext cx="18288" cy="274320"/>
          </a:xfrm>
          <a:prstGeom prst="rect">
            <a:avLst/>
          </a:prstGeom>
          <a:solidFill>
            <a:srgbClr val="00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5840" y="2560320"/>
            <a:ext cx="18288" cy="274320"/>
          </a:xfrm>
          <a:prstGeom prst="rect">
            <a:avLst/>
          </a:prstGeom>
          <a:solidFill>
            <a:srgbClr val="00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37360" y="2560320"/>
            <a:ext cx="18288" cy="274320"/>
          </a:xfrm>
          <a:prstGeom prst="rect">
            <a:avLst/>
          </a:prstGeom>
          <a:solidFill>
            <a:srgbClr val="00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68880" y="2560320"/>
            <a:ext cx="18288" cy="274320"/>
          </a:xfrm>
          <a:prstGeom prst="rect">
            <a:avLst/>
          </a:prstGeom>
          <a:solidFill>
            <a:srgbClr val="00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0" y="2560320"/>
            <a:ext cx="18288" cy="27432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31920" y="2560320"/>
            <a:ext cx="18288" cy="274320"/>
          </a:xfrm>
          <a:prstGeom prst="rect">
            <a:avLst/>
          </a:prstGeom>
          <a:solidFill>
            <a:srgbClr val="0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2560320"/>
            <a:ext cx="18288" cy="274320"/>
          </a:xfrm>
          <a:prstGeom prst="rect">
            <a:avLst/>
          </a:prstGeom>
          <a:solidFill>
            <a:srgbClr val="00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94960" y="2560320"/>
            <a:ext cx="18288" cy="274320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2560320"/>
            <a:ext cx="18288" cy="274320"/>
          </a:xfrm>
          <a:prstGeom prst="rect">
            <a:avLst/>
          </a:prstGeom>
          <a:solidFill>
            <a:srgbClr val="00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0" y="2560320"/>
            <a:ext cx="18288" cy="274320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2560320"/>
            <a:ext cx="18288" cy="274320"/>
          </a:xfrm>
          <a:prstGeom prst="rect">
            <a:avLst/>
          </a:prstGeom>
          <a:solidFill>
            <a:srgbClr val="00D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"/>
            <a:ext cx="2560320" cy="475488"/>
          </a:xfrm>
          <a:prstGeom prst="roundRect">
            <a:avLst/>
          </a:prstGeom>
          <a:solidFill>
            <a:srgbClr val="00C8D7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8"/>
                </a:solidFill>
                <a:latin typeface="Calibri"/>
              </a:rPr>
              <a:t>BULLET STORM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0515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AF0F8"/>
                </a:solidFill>
                <a:latin typeface="Calibri"/>
              </a:rPr>
              <a:t>圖形介面設計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402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0E0FF"/>
                </a:solidFill>
                <a:latin typeface="Calibri"/>
              </a:rPr>
              <a:t>Graphical User Interface Design &amp; Visual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44368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98B0"/>
                </a:solidFill>
                <a:latin typeface="Calibri"/>
              </a:rPr>
              <a:t>800×600 解析度  ·  480×560 遊戲區域  ·  右側 HUD 面板
2 位角色選擇  ·  4 級難度系統  ·  實時數值反饋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77639"/>
            <a:ext cx="1920240" cy="86868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00507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0E0FF"/>
                </a:solidFill>
                <a:latin typeface="Calibri"/>
              </a:rPr>
              <a:t>800×600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256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98B0"/>
                </a:solidFill>
                <a:latin typeface="Calibri"/>
              </a:rPr>
              <a:t>視窗尺寸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3977639"/>
            <a:ext cx="1920240" cy="86868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0" y="400507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0E0FF"/>
                </a:solidFill>
                <a:latin typeface="Calibri"/>
              </a:rPr>
              <a:t>480×560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4256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98B0"/>
                </a:solidFill>
                <a:latin typeface="Calibri"/>
              </a:rPr>
              <a:t>遊戲區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977639"/>
            <a:ext cx="1920240" cy="86868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400507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0E0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4256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98B0"/>
                </a:solidFill>
                <a:latin typeface="Calibri"/>
              </a:rPr>
              <a:t>可選角色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59" y="3977639"/>
            <a:ext cx="1920240" cy="86868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59" y="400507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0E0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44256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98B0"/>
                </a:solidFill>
                <a:latin typeface="Calibri"/>
              </a:rPr>
              <a:t>難度級別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F4321347-2C3E-BB60-5E1E-3749C23920ED}"/>
              </a:ext>
            </a:extLst>
          </p:cNvPr>
          <p:cNvSpPr/>
          <p:nvPr/>
        </p:nvSpPr>
        <p:spPr>
          <a:xfrm>
            <a:off x="8302752" y="2560320"/>
            <a:ext cx="18288" cy="274320"/>
          </a:xfrm>
          <a:prstGeom prst="rect">
            <a:avLst/>
          </a:prstGeom>
          <a:solidFill>
            <a:srgbClr val="00D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37160"/>
            <a:ext cx="2103120" cy="365760"/>
          </a:xfrm>
          <a:prstGeom prst="roundRect">
            <a:avLst/>
          </a:prstGeom>
          <a:solidFill>
            <a:srgbClr val="00C8D7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01 介面配置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視窗佈局與座標系統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8412480" cy="2743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1417320"/>
            <a:ext cx="4572000" cy="18288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0" y="1417320"/>
            <a:ext cx="18288" cy="3429000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50992" y="1417320"/>
            <a:ext cx="18288" cy="3429000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4828032"/>
            <a:ext cx="4572000" cy="18288"/>
          </a:xfrm>
          <a:prstGeom prst="rect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0" y="1508760"/>
            <a:ext cx="2743200" cy="18288"/>
          </a:xfrm>
          <a:prstGeom prst="rect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80160" y="1508760"/>
            <a:ext cx="18288" cy="3200400"/>
          </a:xfrm>
          <a:prstGeom prst="rect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05072" y="1508760"/>
            <a:ext cx="18288" cy="3200400"/>
          </a:xfrm>
          <a:prstGeom prst="rect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80160" y="4690872"/>
            <a:ext cx="2743200" cy="18288"/>
          </a:xfrm>
          <a:prstGeom prst="rect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40" y="1508760"/>
            <a:ext cx="1435607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06240" y="1508760"/>
            <a:ext cx="18288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23560" y="1508760"/>
            <a:ext cx="18288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6240" y="4690872"/>
            <a:ext cx="1435607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10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E0FF"/>
                </a:solidFill>
                <a:latin typeface="Calibri"/>
              </a:rPr>
              <a:t>800×600 總視窗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FF8C"/>
                </a:solidFill>
                <a:latin typeface="Calibri"/>
              </a:rPr>
              <a:t>遊戲區 (480×560)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HUD 面板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1006" y="150397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E0FF"/>
                </a:solidFill>
                <a:latin typeface="Calibri"/>
              </a:rPr>
              <a:t>視窗：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2566" y="1503970"/>
            <a:ext cx="7360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800×600 固定大小，居中縮放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1006" y="179657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E0FF"/>
                </a:solidFill>
                <a:latin typeface="Calibri"/>
              </a:rPr>
              <a:t>遊戲區：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2566" y="1796578"/>
            <a:ext cx="7360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32,16 起點，480×560 尺寸，雙倍緩衝渲染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1006" y="208918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E0FF"/>
                </a:solidFill>
                <a:latin typeface="Calibri"/>
              </a:rPr>
              <a:t>HUD 面板：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2566" y="2089186"/>
            <a:ext cx="7360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544 起點，包含分數、炸彈、心量、等級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1006" y="238179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E0FF"/>
                </a:solidFill>
                <a:latin typeface="Calibri"/>
              </a:rPr>
              <a:t>背景：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2566" y="2381794"/>
            <a:ext cx="7360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150 顆動畫星，深藍色漸層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1006" y="267440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E0FF"/>
                </a:solidFill>
                <a:latin typeface="Calibri"/>
              </a:rPr>
              <a:t>字體：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2566" y="2674402"/>
            <a:ext cx="7360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MS Gothic / SansSerif，反鋸齒開啟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37160"/>
            <a:ext cx="2103120" cy="365760"/>
          </a:xfrm>
          <a:prstGeom prst="roundRect">
            <a:avLst/>
          </a:prstGeom>
          <a:solidFill>
            <a:srgbClr val="00C8D7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02 UI 狀態流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遊戲狀態與轉移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8412480" cy="2743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828800" cy="1207008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554480"/>
            <a:ext cx="1609344" cy="457200"/>
          </a:xfrm>
          <a:prstGeom prst="ellipse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8"/>
                </a:solidFill>
                <a:latin typeface="Calibri"/>
              </a:rPr>
              <a:t>開始畫面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98B0"/>
                </a:solidFill>
                <a:latin typeface="Courier New"/>
              </a:rP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AF0F8"/>
                </a:solidFill>
                <a:latin typeface="Calibri"/>
              </a:rPr>
              <a:t>標題動畫 + 星場背景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463040"/>
            <a:ext cx="1828800" cy="1207008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127248" y="1554480"/>
            <a:ext cx="1609344" cy="457200"/>
          </a:xfrm>
          <a:prstGeom prst="ellipse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27248" y="1554480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8"/>
                </a:solidFill>
                <a:latin typeface="Calibri"/>
              </a:rPr>
              <a:t>角色選擇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20574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98B0"/>
                </a:solidFill>
                <a:latin typeface="Courier New"/>
              </a:rPr>
              <a:t>CHAR 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AF0F8"/>
                </a:solidFill>
                <a:latin typeface="Calibri"/>
              </a:rPr>
              <a:t>2 位角色卡片對比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463040"/>
            <a:ext cx="1828800" cy="1207008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13248" y="1554480"/>
            <a:ext cx="1609344" cy="457200"/>
          </a:xfrm>
          <a:prstGeom prst="ellips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3248" y="1554480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8"/>
                </a:solidFill>
                <a:latin typeface="Calibri"/>
              </a:rPr>
              <a:t>難度選擇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0574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98B0"/>
                </a:solidFill>
                <a:latin typeface="Courier New"/>
              </a:rPr>
              <a:t>DIFF 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AF0F8"/>
                </a:solidFill>
                <a:latin typeface="Calibri"/>
              </a:rPr>
              <a:t>4 級難度色卡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926080"/>
            <a:ext cx="1828800" cy="1207008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1248" y="3017520"/>
            <a:ext cx="1609344" cy="457200"/>
          </a:xfrm>
          <a:prstGeom prst="ellipse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017520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8"/>
                </a:solidFill>
                <a:latin typeface="Calibri"/>
              </a:rPr>
              <a:t>遊戲進行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5204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98B0"/>
                </a:solidFill>
                <a:latin typeface="Courier New"/>
              </a:rPr>
              <a:t>PLAYING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7307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AF0F8"/>
                </a:solidFill>
                <a:latin typeface="Calibri"/>
              </a:rPr>
              <a:t>即時 HUD 更新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2926080"/>
            <a:ext cx="1828800" cy="1207008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127248" y="3017520"/>
            <a:ext cx="1609344" cy="4572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27248" y="3017520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8"/>
                </a:solidFill>
                <a:latin typeface="Calibri"/>
              </a:rPr>
              <a:t>暫停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79" y="35204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98B0"/>
                </a:solidFill>
                <a:latin typeface="Courier New"/>
              </a:rPr>
              <a:t>PAUSED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79" y="37307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AF0F8"/>
                </a:solidFill>
                <a:latin typeface="Calibri"/>
              </a:rPr>
              <a:t>半透明遮蔽層 + 菜單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2926080"/>
            <a:ext cx="1828800" cy="1207008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413248" y="3017520"/>
            <a:ext cx="1609344" cy="457200"/>
          </a:xfrm>
          <a:prstGeom prst="ellips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13248" y="3017520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8"/>
                </a:solidFill>
                <a:latin typeface="Calibri"/>
              </a:rPr>
              <a:t>遊戲結束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35204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98B0"/>
                </a:solidFill>
                <a:latin typeface="Courier New"/>
              </a:rPr>
              <a:t>GAME 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37307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AF0F8"/>
                </a:solidFill>
                <a:latin typeface="Calibri"/>
              </a:rPr>
              <a:t>統計面板 / 重試選項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25196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Each state has dedicated rendering &amp; input handling. Smooth transitions with fade/slide animations.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37160"/>
            <a:ext cx="2103120" cy="365760"/>
          </a:xfrm>
          <a:prstGeom prst="roundRect">
            <a:avLst/>
          </a:prstGeom>
          <a:solidFill>
            <a:srgbClr val="00C8D7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03 角色系統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2 位可選角色 + 屬性對比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8412480" cy="2743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3383280" cy="310896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1600200"/>
            <a:ext cx="3108960" cy="475488"/>
          </a:xfrm>
          <a:prstGeom prst="roundRect">
            <a:avLst/>
          </a:prstGeom>
          <a:solidFill>
            <a:srgbClr val="40E0FF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8"/>
                </a:solidFill>
                <a:latin typeface="Calibri"/>
              </a:rPr>
              <a:t>光彩射手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AF0F8"/>
                </a:solidFill>
                <a:latin typeface="Calibri"/>
              </a:rPr>
              <a:t>Aurora Striker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505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E0FF"/>
                </a:solidFill>
                <a:latin typeface="Calibri"/>
              </a:rPr>
              <a:t>快速精準型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889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F0F8"/>
                </a:solidFill>
                <a:latin typeface="Calibri"/>
              </a:rPr>
              <a:t>快速移動，精確射擊
單發威力中等，頻率快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3659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8098B0"/>
                </a:solidFill>
                <a:latin typeface="Calibri"/>
              </a:rPr>
              <a:t>移動</a:t>
            </a:r>
            <a:endParaRPr sz="900" b="0" i="0" dirty="0">
              <a:solidFill>
                <a:srgbClr val="8098B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20240" y="3236593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0E0FF"/>
                </a:solidFill>
                <a:latin typeface="Calibri"/>
              </a:rP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2920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射速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52920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0E0FF"/>
                </a:solidFill>
                <a:latin typeface="Calibri"/>
              </a:rPr>
              <a:t>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2180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威力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82180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BFF"/>
                </a:solidFill>
                <a:latin typeface="Calibri"/>
              </a:rP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1441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特性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11441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0E0FF"/>
                </a:solidFill>
                <a:latin typeface="Calibri"/>
              </a:rPr>
              <a:t>精準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463040"/>
            <a:ext cx="3383280" cy="310896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892040" y="1600200"/>
            <a:ext cx="3108960" cy="475488"/>
          </a:xfrm>
          <a:prstGeom prst="roundRect">
            <a:avLst/>
          </a:prstGeom>
          <a:solidFill>
            <a:srgbClr val="FFD700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16002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8"/>
                </a:solidFill>
                <a:latin typeface="Calibri"/>
              </a:rPr>
              <a:t>時間工程師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AF0F8"/>
                </a:solidFill>
                <a:latin typeface="Calibri"/>
              </a:rPr>
              <a:t>Chronos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4505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E0FF"/>
                </a:solidFill>
                <a:latin typeface="Calibri"/>
              </a:rPr>
              <a:t>爆炸威力型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7889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F0F8"/>
                </a:solidFill>
                <a:latin typeface="Calibri"/>
              </a:rPr>
              <a:t>移動速度中等，爆炸攻擊
單發威力強，冷卻較長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23659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移動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236593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92%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52920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射速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52920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82180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威力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82180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BFF"/>
                </a:solidFill>
                <a:latin typeface="Calibri"/>
              </a:rPr>
              <a:t>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11441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特性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11441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精準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37160"/>
            <a:ext cx="2103120" cy="365760"/>
          </a:xfrm>
          <a:prstGeom prst="roundRect">
            <a:avLst/>
          </a:prstGeom>
          <a:solidFill>
            <a:srgbClr val="00C8D7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04 難度選擇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4 級難度與參數調整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8412480" cy="2743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965960" cy="310896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1783080" cy="438912"/>
          </a:xfrm>
          <a:prstGeom prst="roundRect">
            <a:avLst/>
          </a:prstGeom>
          <a:solidFill>
            <a:srgbClr val="64C864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8"/>
                </a:solidFill>
                <a:latin typeface="Calibri"/>
              </a:rPr>
              <a:t>簡單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Easy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C864"/>
                </a:solidFill>
                <a:latin typeface="Calibri"/>
              </a:rPr>
              <a:t>新手友善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 err="1">
                <a:solidFill>
                  <a:srgbClr val="8098B0"/>
                </a:solidFill>
                <a:latin typeface="Calibri"/>
              </a:rPr>
              <a:t>子彈速度</a:t>
            </a:r>
            <a:r>
              <a:rPr sz="850" b="0" i="0" dirty="0">
                <a:solidFill>
                  <a:srgbClr val="8098B0"/>
                </a:solidFill>
                <a:latin typeface="Calibri"/>
              </a:rPr>
              <a:t> 0.65× / </a:t>
            </a:r>
            <a:r>
              <a:rPr sz="850" b="0" i="0" dirty="0" err="1">
                <a:solidFill>
                  <a:srgbClr val="8098B0"/>
                </a:solidFill>
                <a:latin typeface="Calibri"/>
              </a:rPr>
              <a:t>數量少</a:t>
            </a:r>
            <a:r>
              <a:rPr sz="850" b="0" i="0" dirty="0">
                <a:solidFill>
                  <a:srgbClr val="8098B0"/>
                </a:solidFill>
                <a:latin typeface="Calibri"/>
              </a:rPr>
              <a:t> / </a:t>
            </a:r>
            <a:r>
              <a:rPr sz="850" b="0" i="0" dirty="0" err="1">
                <a:solidFill>
                  <a:srgbClr val="8098B0"/>
                </a:solidFill>
                <a:latin typeface="Calibri"/>
              </a:rPr>
              <a:t>敵人</a:t>
            </a:r>
            <a:r>
              <a:rPr sz="850" b="0" i="0" dirty="0">
                <a:solidFill>
                  <a:srgbClr val="8098B0"/>
                </a:solidFill>
                <a:latin typeface="Calibri"/>
              </a:rPr>
              <a:t> AI </a:t>
            </a:r>
            <a:r>
              <a:rPr sz="850" b="0" i="0" dirty="0" err="1">
                <a:solidFill>
                  <a:srgbClr val="8098B0"/>
                </a:solidFill>
                <a:latin typeface="Calibri"/>
              </a:rPr>
              <a:t>緩慢</a:t>
            </a:r>
            <a:endParaRPr sz="850" b="0" i="0" dirty="0">
              <a:solidFill>
                <a:srgbClr val="8098B0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23160" y="1463040"/>
            <a:ext cx="1965960" cy="310896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14600" y="1600200"/>
            <a:ext cx="1783080" cy="438912"/>
          </a:xfrm>
          <a:prstGeom prst="roundRect">
            <a:avLst/>
          </a:prstGeom>
          <a:solidFill>
            <a:srgbClr val="6496FF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160020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8"/>
                </a:solidFill>
                <a:latin typeface="Calibri"/>
              </a:rPr>
              <a:t>普通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1031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37744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96FF"/>
                </a:solidFill>
                <a:latin typeface="Calibri"/>
              </a:rPr>
              <a:t>平衡體驗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5176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098B0"/>
                </a:solidFill>
                <a:latin typeface="Calibri"/>
              </a:rPr>
              <a:t>子彈速度 0.65× / 數量中等 / 標準難度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463040"/>
            <a:ext cx="1965960" cy="310896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0" y="1600200"/>
            <a:ext cx="1783080" cy="438912"/>
          </a:xfrm>
          <a:prstGeom prst="roundRect">
            <a:avLst/>
          </a:prstGeom>
          <a:solidFill>
            <a:srgbClr val="FF9632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160020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8"/>
                </a:solidFill>
                <a:latin typeface="Calibri"/>
              </a:rPr>
              <a:t>困難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1031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Hard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37744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9632"/>
                </a:solidFill>
                <a:latin typeface="Calibri"/>
              </a:rPr>
              <a:t>進階玩家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65176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098B0"/>
                </a:solidFill>
                <a:latin typeface="Calibri"/>
              </a:rPr>
              <a:t>子彈速度 0.78× / 數量多 / 敵人AI激進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463040"/>
            <a:ext cx="1965960" cy="310896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29400" y="1600200"/>
            <a:ext cx="1783080" cy="438912"/>
          </a:xfrm>
          <a:prstGeom prst="roundRect">
            <a:avLst/>
          </a:prstGeom>
          <a:solidFill>
            <a:srgbClr val="FF3232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160020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8"/>
                </a:solidFill>
                <a:latin typeface="Calibri"/>
              </a:rPr>
              <a:t>狂亂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1031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Lunatic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37744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3232"/>
                </a:solidFill>
                <a:latin typeface="Calibri"/>
              </a:rPr>
              <a:t>終極挑戰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65176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098B0"/>
                </a:solidFill>
                <a:latin typeface="Calibri"/>
              </a:rPr>
              <a:t>子彈速度 1.04× / 數量爆表 / Boss 5 階段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37160"/>
            <a:ext cx="2103120" cy="365760"/>
          </a:xfrm>
          <a:prstGeom prst="roundRect">
            <a:avLst/>
          </a:prstGeom>
          <a:solidFill>
            <a:srgbClr val="00C8D7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05 HUD 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右側資訊面板詳設計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8412480" cy="2743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3712" y="1499616"/>
            <a:ext cx="804672" cy="118872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86864" y="1664208"/>
            <a:ext cx="658368" cy="3200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86864" y="1664208"/>
            <a:ext cx="658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8"/>
                </a:solidFill>
                <a:latin typeface="Calibri"/>
              </a:rPr>
              <a:t>分數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6864" y="2029968"/>
            <a:ext cx="65836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ourier New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0288" y="2249424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AF0F8"/>
                </a:solidFill>
                <a:latin typeface="Calibri"/>
              </a:rPr>
              <a:t>即時更新，大字黃金色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2392" y="1499616"/>
            <a:ext cx="804672" cy="118872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955543" y="1664208"/>
            <a:ext cx="658368" cy="320040"/>
          </a:xfrm>
          <a:prstGeom prst="ellips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5543" y="1664208"/>
            <a:ext cx="658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8"/>
                </a:solidFill>
                <a:latin typeface="Calibri"/>
              </a:rPr>
              <a:t>炸彈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5543" y="2029968"/>
            <a:ext cx="65836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ourier New"/>
              </a:rPr>
              <a:t>BOMBS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8968" y="2249424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AF0F8"/>
                </a:solidFill>
                <a:latin typeface="Calibri"/>
              </a:rPr>
              <a:t>圖示 + 數字，可視庫存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51072" y="1499616"/>
            <a:ext cx="804672" cy="118872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824224" y="1664208"/>
            <a:ext cx="658368" cy="320040"/>
          </a:xfrm>
          <a:prstGeom prst="ellipse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24224" y="1664208"/>
            <a:ext cx="658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8"/>
                </a:solidFill>
                <a:latin typeface="Calibri"/>
              </a:rPr>
              <a:t>心量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4224" y="2029968"/>
            <a:ext cx="6583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ourier New"/>
              </a:rPr>
              <a:t>HP / MAX HP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7648" y="2249424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AF0F8"/>
                </a:solidFill>
                <a:latin typeface="Calibri"/>
              </a:rPr>
              <a:t>條形進度條，綠色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9752" y="1499616"/>
            <a:ext cx="804672" cy="118872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92904" y="1664208"/>
            <a:ext cx="658368" cy="320040"/>
          </a:xfrm>
          <a:prstGeom prst="ellipse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2904" y="1664208"/>
            <a:ext cx="658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8"/>
                </a:solidFill>
                <a:latin typeface="Calibri"/>
              </a:rPr>
              <a:t>等級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2904" y="2029968"/>
            <a:ext cx="65836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ourier New"/>
              </a:rPr>
              <a:t>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6328" y="2249424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AF0F8"/>
                </a:solidFill>
                <a:latin typeface="Calibri"/>
              </a:rPr>
              <a:t>玩家成長指標，藍色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8432" y="1499616"/>
            <a:ext cx="804672" cy="118872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561584" y="1664208"/>
            <a:ext cx="658368" cy="320040"/>
          </a:xfrm>
          <a:prstGeom prst="ellipse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61584" y="1664208"/>
            <a:ext cx="658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8"/>
                </a:solidFill>
                <a:latin typeface="Calibri"/>
              </a:rPr>
              <a:t>EXP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61584" y="2029968"/>
            <a:ext cx="65836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ourier New"/>
              </a:rPr>
              <a:t>EXP BAR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5008" y="2249424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AF0F8"/>
                </a:solidFill>
                <a:latin typeface="Calibri"/>
              </a:rPr>
              <a:t>升級進度條，紫色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7112" y="1499616"/>
            <a:ext cx="804672" cy="118872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30264" y="1664208"/>
            <a:ext cx="658368" cy="3200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30264" y="1664208"/>
            <a:ext cx="658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8"/>
                </a:solidFill>
                <a:latin typeface="Calibri"/>
              </a:rPr>
              <a:t>技能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0264" y="2029968"/>
            <a:ext cx="65836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ourier New"/>
              </a:rPr>
              <a:t>5 SKILLS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3688" y="2249424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AF0F8"/>
                </a:solidFill>
                <a:latin typeface="Calibri"/>
              </a:rPr>
              <a:t>星級等級顯示 (0-5)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27889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E0FF"/>
                </a:solidFill>
                <a:latin typeface="Calibri"/>
              </a:rPr>
              <a:t>渲染順序：背景 → 遊戲物件 → 彈幕 → HUD → 除錯資訊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2004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0E0FF"/>
                </a:solidFill>
                <a:latin typeface="Calibri"/>
              </a:rPr>
              <a:t>分數顯示：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91640" y="3182112"/>
            <a:ext cx="6995160" cy="329184"/>
          </a:xfrm>
          <a:prstGeom prst="roundRect">
            <a:avLst/>
          </a:prstGeom>
          <a:solidFill>
            <a:srgbClr val="080D1F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83080" y="3200400"/>
            <a:ext cx="6812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drawString("SCORE: " + score, x, y);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5844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0E0FF"/>
                </a:solidFill>
                <a:latin typeface="Calibri"/>
              </a:rPr>
              <a:t>血量條：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91640" y="3566160"/>
            <a:ext cx="6995160" cy="329184"/>
          </a:xfrm>
          <a:prstGeom prst="roundRect">
            <a:avLst/>
          </a:prstGeom>
          <a:solidFill>
            <a:srgbClr val="080D1F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783080" y="3584448"/>
            <a:ext cx="6812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fillRect(hpCurrent/maxHp * barWidth, ...);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96849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0E0FF"/>
                </a:solidFill>
                <a:latin typeface="Calibri"/>
              </a:rPr>
              <a:t>EXP 進度：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91640" y="3950208"/>
            <a:ext cx="6995160" cy="329184"/>
          </a:xfrm>
          <a:prstGeom prst="roundRect">
            <a:avLst/>
          </a:prstGeom>
          <a:solidFill>
            <a:srgbClr val="080D1F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783080" y="3968496"/>
            <a:ext cx="6812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fillRect(exp/expNext * barWidth, COLOR_PURPLE);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3525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0E0FF"/>
                </a:solidFill>
                <a:latin typeface="Calibri"/>
              </a:rPr>
              <a:t>技能星級：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91640" y="4334256"/>
            <a:ext cx="6995160" cy="329184"/>
          </a:xfrm>
          <a:prstGeom prst="roundRect">
            <a:avLst/>
          </a:prstGeom>
          <a:solidFill>
            <a:srgbClr val="080D1F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783080" y="4352544"/>
            <a:ext cx="6812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for (5) drawStar(exp.getSkillLevel(i));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37160"/>
            <a:ext cx="2103120" cy="365760"/>
          </a:xfrm>
          <a:prstGeom prst="roundRect">
            <a:avLst/>
          </a:prstGeom>
          <a:solidFill>
            <a:srgbClr val="00C8D7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A0A18"/>
                </a:solidFill>
                <a:latin typeface="Calibri"/>
              </a:rPr>
              <a:t>0</a:t>
            </a:r>
            <a:r>
              <a:rPr lang="en-US" sz="1100" b="1" i="0" dirty="0">
                <a:solidFill>
                  <a:srgbClr val="0A0A18"/>
                </a:solidFill>
                <a:latin typeface="Calibri"/>
              </a:rPr>
              <a:t>6</a:t>
            </a:r>
            <a:r>
              <a:rPr sz="1100" b="1" i="0" dirty="0">
                <a:solidFill>
                  <a:srgbClr val="0A0A18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0A0A18"/>
                </a:solidFill>
                <a:latin typeface="Calibri"/>
              </a:rPr>
              <a:t>動畫系統</a:t>
            </a:r>
            <a:endParaRPr sz="1100" b="1" i="0" dirty="0">
              <a:solidFill>
                <a:srgbClr val="0A0A1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UI 轉場與動畫效果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8412480" cy="2743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1965960" cy="109728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1536192"/>
            <a:ext cx="548640" cy="365760"/>
          </a:xfrm>
          <a:prstGeom prst="ellipse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A18"/>
                </a:solidFill>
                <a:latin typeface="Calibri"/>
              </a:rPr>
              <a:t>標題動畫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938528"/>
            <a:ext cx="1746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alibri"/>
              </a:rPr>
              <a:t>BULLET STORM 文字旋轉 &amp; 縮放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463040"/>
            <a:ext cx="1965960" cy="109728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606040" y="1536192"/>
            <a:ext cx="548640" cy="365760"/>
          </a:xfrm>
          <a:prstGeom prst="ellipse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15361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A18"/>
                </a:solidFill>
                <a:latin typeface="Calibri"/>
              </a:rPr>
              <a:t>選擇高亮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1938528"/>
            <a:ext cx="1746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alibri"/>
              </a:rPr>
              <a:t>菜單項目 hover 時縮放 1.1× &amp; 變色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463040"/>
            <a:ext cx="1965960" cy="109728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09159" y="1536192"/>
            <a:ext cx="548640" cy="365760"/>
          </a:xfrm>
          <a:prstGeom prst="ellips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59" y="15361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A18"/>
                </a:solidFill>
                <a:latin typeface="Calibri"/>
              </a:rPr>
              <a:t>血量掉血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1938528"/>
            <a:ext cx="1746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alibri"/>
              </a:rPr>
              <a:t>紅色閃爍 + 條形倒計時縮短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463040"/>
            <a:ext cx="1965960" cy="109728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12279" y="1536192"/>
            <a:ext cx="548640" cy="365760"/>
          </a:xfrm>
          <a:prstGeom prst="ellipse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79" y="15361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A18"/>
                </a:solidFill>
                <a:latin typeface="Calibri"/>
              </a:rPr>
              <a:t>EXP 升級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38528"/>
            <a:ext cx="1746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alibri"/>
              </a:rPr>
              <a:t>紫色脈衝 + level 數字跳動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697480"/>
            <a:ext cx="1965960" cy="109728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02920" y="2770632"/>
            <a:ext cx="548640" cy="3657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2770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A18"/>
                </a:solidFill>
                <a:latin typeface="Calibri"/>
              </a:rPr>
              <a:t>狀態轉移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3172968"/>
            <a:ext cx="1746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alibri"/>
              </a:rPr>
              <a:t>淡出舊畫面 → 淡入新畫面（0.3 秒）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4600" y="2697480"/>
            <a:ext cx="1965960" cy="109728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06040" y="2770632"/>
            <a:ext cx="548640" cy="365760"/>
          </a:xfrm>
          <a:prstGeom prst="ellipse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06040" y="2770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A18"/>
                </a:solidFill>
                <a:latin typeface="Calibri"/>
              </a:rPr>
              <a:t>得分彈出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4328" y="3172968"/>
            <a:ext cx="1746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alibri"/>
              </a:rPr>
              <a:t>浮動文字 + 拋物線上升 + 淡出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2697480"/>
            <a:ext cx="1965960" cy="109728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709159" y="2770632"/>
            <a:ext cx="548640" cy="365760"/>
          </a:xfrm>
          <a:prstGeom prst="ellips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9159" y="2770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A18"/>
                </a:solidFill>
                <a:latin typeface="Calibri"/>
              </a:rPr>
              <a:t>炸彈使用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7448" y="3172968"/>
            <a:ext cx="1746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alibri"/>
              </a:rPr>
              <a:t>圓形擴散波紋 + 視覺震撼特效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2697480"/>
            <a:ext cx="1965960" cy="1097280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812279" y="2770632"/>
            <a:ext cx="548640" cy="3657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12279" y="2770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A18"/>
                </a:solidFill>
                <a:latin typeface="Calibri"/>
              </a:rPr>
              <a:t>敵人擊殺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3172968"/>
            <a:ext cx="1746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098B0"/>
                </a:solidFill>
                <a:latin typeface="Calibri"/>
              </a:rPr>
              <a:t>粒子爆發 + 分數彈出 + 音效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37160"/>
            <a:ext cx="2103120" cy="365760"/>
          </a:xfrm>
          <a:prstGeom prst="roundRect">
            <a:avLst/>
          </a:prstGeom>
          <a:solidFill>
            <a:srgbClr val="00C8D7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A0A18"/>
                </a:solidFill>
                <a:latin typeface="Calibri"/>
              </a:rPr>
              <a:t>0</a:t>
            </a:r>
            <a:r>
              <a:rPr lang="en-US" sz="1100" b="1" i="0" dirty="0">
                <a:solidFill>
                  <a:srgbClr val="0A0A18"/>
                </a:solidFill>
                <a:latin typeface="Calibri"/>
              </a:rPr>
              <a:t>7</a:t>
            </a:r>
            <a:r>
              <a:rPr sz="1100" b="1" i="0" dirty="0">
                <a:solidFill>
                  <a:srgbClr val="0A0A18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0A0A18"/>
                </a:solidFill>
                <a:latin typeface="Calibri"/>
              </a:rPr>
              <a:t>使用者體驗</a:t>
            </a:r>
            <a:endParaRPr sz="1100" b="1" i="0" dirty="0">
              <a:solidFill>
                <a:srgbClr val="0A0A1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2800" b="1" i="0" dirty="0">
                <a:solidFill>
                  <a:srgbClr val="EAF0F8"/>
                </a:solidFill>
                <a:latin typeface="Calibri"/>
              </a:rPr>
              <a:t>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8412480" cy="2743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8412480" cy="530352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7"/>
                </a:solidFill>
                <a:latin typeface="Calibri"/>
              </a:rPr>
              <a:t>對比度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4996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AF0F8"/>
                </a:solidFill>
                <a:latin typeface="Calibri"/>
              </a:rPr>
              <a:t>文字對背景 &gt; 4.5:1 (WCAG AA)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49961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98B0"/>
                </a:solidFill>
                <a:latin typeface="Calibri"/>
              </a:rPr>
              <a:t>所有白色文字黑背景檢驗通過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57400"/>
            <a:ext cx="8412480" cy="530352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0939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7"/>
                </a:solidFill>
                <a:latin typeface="Calibri"/>
              </a:rPr>
              <a:t>字體大小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0939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AF0F8"/>
                </a:solidFill>
                <a:latin typeface="Calibri"/>
              </a:rPr>
              <a:t>主標題 36pt, 正文 14-16pt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09397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98B0"/>
                </a:solidFill>
                <a:latin typeface="Calibri"/>
              </a:rPr>
              <a:t>行高 1.5× 提升易讀性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651760"/>
            <a:ext cx="8412480" cy="530352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6883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7"/>
                </a:solidFill>
                <a:latin typeface="Calibri"/>
              </a:rPr>
              <a:t>色彩不依賴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8833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AF0F8"/>
                </a:solidFill>
                <a:latin typeface="Calibri"/>
              </a:rPr>
              <a:t>紅+圖示、綠+圖示等組合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68833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98B0"/>
                </a:solidFill>
                <a:latin typeface="Calibri"/>
              </a:rPr>
              <a:t>色盲玩家仍可理解資訊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246120"/>
            <a:ext cx="8412480" cy="530352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2826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7"/>
                </a:solidFill>
                <a:latin typeface="Calibri"/>
              </a:rPr>
              <a:t>音效與視覺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2826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AF0F8"/>
                </a:solidFill>
                <a:latin typeface="Calibri"/>
              </a:rPr>
              <a:t>關鍵事件同步音效與動畫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28269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98B0"/>
                </a:solidFill>
                <a:latin typeface="Calibri"/>
              </a:rPr>
              <a:t>遊戲進度多感官反饋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840480"/>
            <a:ext cx="8412480" cy="530352"/>
          </a:xfrm>
          <a:prstGeom prst="roundRect">
            <a:avLst/>
          </a:prstGeom>
          <a:solidFill>
            <a:srgbClr val="10152B"/>
          </a:solidFill>
          <a:ln w="6350">
            <a:solidFill>
              <a:srgbClr val="2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8770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D7"/>
                </a:solidFill>
                <a:latin typeface="Calibri"/>
              </a:rPr>
              <a:t>鍵盤控制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8770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AF0F8"/>
                </a:solidFill>
                <a:latin typeface="Calibri"/>
              </a:rPr>
              <a:t>↑↓←→ 移動, Z 射擊, X 炸彈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87705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98B0"/>
                </a:solidFill>
                <a:latin typeface="Calibri"/>
              </a:rPr>
              <a:t>無鼠標即可遊玩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442</Words>
  <Application>Microsoft Office PowerPoint</Application>
  <PresentationFormat>如螢幕大小 (16:9)</PresentationFormat>
  <Paragraphs>156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翁 祺展</cp:lastModifiedBy>
  <cp:revision>2</cp:revision>
  <dcterms:created xsi:type="dcterms:W3CDTF">2013-01-27T09:14:16Z</dcterms:created>
  <dcterms:modified xsi:type="dcterms:W3CDTF">2026-06-15T15:09:03Z</dcterms:modified>
  <cp:category/>
</cp:coreProperties>
</file>