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4"/>
    <p:sldId id="258" r:id="rId4"/>
    <p:sldId id="259" r:id="rId5"/>
    <p:sldId id="260" r:id="rId6"/>
    <p:sldId id="265" r:id="rId15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10s</c:v>
                </c:pt>
                <c:pt idx="2">
                  <c:v>20s</c:v>
                </c:pt>
                <c:pt idx="3">
                  <c:v>30s</c:v>
                </c:pt>
                <c:pt idx="4">
                  <c:v>40s</c:v>
                </c:pt>
                <c:pt idx="5">
                  <c:v>50s</c:v>
                </c:pt>
                <c:pt idx="6">
                  <c:v>60s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60</c:v>
                </c:pt>
                <c:pt idx="2">
                  <c:v>59</c:v>
                </c:pt>
                <c:pt idx="3">
                  <c:v>60</c:v>
                </c:pt>
                <c:pt idx="4">
                  <c:v>60</c:v>
                </c:pt>
                <c:pt idx="5">
                  <c:v>61</c:v>
                </c:pt>
                <c:pt idx="6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50-41DB-A5FE-9F8A8AAC6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118791784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91440" y="3291840"/>
            <a:ext cx="27432" cy="1463040"/>
          </a:xfrm>
          <a:prstGeom prst="rect">
            <a:avLst/>
          </a:prstGeom>
          <a:solidFill>
            <a:srgbClr val="00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20624" y="3291840"/>
            <a:ext cx="27432" cy="1463040"/>
          </a:xfrm>
          <a:prstGeom prst="rect">
            <a:avLst/>
          </a:prstGeom>
          <a:solidFill>
            <a:srgbClr val="00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3291840"/>
            <a:ext cx="27432" cy="1463040"/>
          </a:xfrm>
          <a:prstGeom prst="rect">
            <a:avLst/>
          </a:prstGeom>
          <a:solidFill>
            <a:srgbClr val="004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444752" y="3291840"/>
            <a:ext cx="27432" cy="1463040"/>
          </a:xfrm>
          <a:prstGeom prst="rect">
            <a:avLst/>
          </a:prstGeom>
          <a:solidFill>
            <a:srgbClr val="005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56816" y="3291840"/>
            <a:ext cx="27432" cy="1463040"/>
          </a:xfrm>
          <a:prstGeom prst="rect">
            <a:avLst/>
          </a:prstGeom>
          <a:solidFill>
            <a:srgbClr val="00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68880" y="3291840"/>
            <a:ext cx="27432" cy="1463040"/>
          </a:xfrm>
          <a:prstGeom prst="rect">
            <a:avLst/>
          </a:prstGeom>
          <a:solidFill>
            <a:srgbClr val="006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80944" y="3291840"/>
            <a:ext cx="27432" cy="1463040"/>
          </a:xfrm>
          <a:prstGeom prst="rect">
            <a:avLst/>
          </a:prstGeom>
          <a:solidFill>
            <a:srgbClr val="00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3008" y="3291840"/>
            <a:ext cx="27432" cy="1463040"/>
          </a:xfrm>
          <a:prstGeom prst="rect">
            <a:avLst/>
          </a:prstGeom>
          <a:solidFill>
            <a:srgbClr val="00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05072" y="3291840"/>
            <a:ext cx="27432" cy="1463040"/>
          </a:xfrm>
          <a:prstGeom prst="rect">
            <a:avLst/>
          </a:prstGeom>
          <a:solidFill>
            <a:srgbClr val="0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17136" y="3291840"/>
            <a:ext cx="27432" cy="1463040"/>
          </a:xfrm>
          <a:prstGeom prst="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3291840"/>
            <a:ext cx="27432" cy="14630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41264" y="3291840"/>
            <a:ext cx="27432" cy="146304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53328" y="3291840"/>
            <a:ext cx="27432" cy="1463040"/>
          </a:xfrm>
          <a:prstGeom prst="rect">
            <a:avLst/>
          </a:prstGeom>
          <a:solidFill>
            <a:srgbClr val="009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65392" y="3291840"/>
            <a:ext cx="27432" cy="1463040"/>
          </a:xfrm>
          <a:prstGeom prst="rect">
            <a:avLst/>
          </a:prstGeom>
          <a:solidFill>
            <a:srgbClr val="00A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77456" y="3291840"/>
            <a:ext cx="27432" cy="1463040"/>
          </a:xfrm>
          <a:prstGeom prst="rect">
            <a:avLst/>
          </a:prstGeom>
          <a:solidFill>
            <a:srgbClr val="00A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3291840"/>
            <a:ext cx="27432" cy="1463040"/>
          </a:xfrm>
          <a:prstGeom prst="rect">
            <a:avLst/>
          </a:prstGeom>
          <a:solidFill>
            <a:srgbClr val="00B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4" y="3291840"/>
            <a:ext cx="27432" cy="1463040"/>
          </a:xfrm>
          <a:prstGeom prst="rect">
            <a:avLst/>
          </a:prstGeom>
          <a:solidFill>
            <a:srgbClr val="00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13648" y="3291840"/>
            <a:ext cx="27432" cy="1463040"/>
          </a:xfrm>
          <a:prstGeom prst="rect">
            <a:avLst/>
          </a:prstGeom>
          <a:solidFill>
            <a:srgbClr val="00C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47472"/>
            <a:ext cx="2926080" cy="457200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47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8"/>
                </a:solidFill>
                <a:latin typeface="Calibri"/>
              </a:rPr>
              <a:t>BULLET STORM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AF0F8"/>
                </a:solidFill>
                <a:latin typeface="Calibri"/>
              </a:rPr>
              <a:t>圖形介面設計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148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0E0FF"/>
                </a:solidFill>
                <a:latin typeface="Calibri"/>
              </a:rPr>
              <a:t>Graphical User Interface Design &amp; Visual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8B0"/>
                </a:solidFill>
                <a:latin typeface="Calibri"/>
              </a:rPr>
              <a:t>Project Motivation  ·  System Architecture  ·  Technologies Used  ·  Experimental Results  ·  Future Improvements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37560"/>
            <a:ext cx="1874519" cy="80467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374136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0E0FF"/>
                </a:solidFill>
                <a:latin typeface="Calibri"/>
              </a:rPr>
              <a:t>800×600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81304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8B0"/>
                </a:solidFill>
                <a:latin typeface="Calibri"/>
              </a:rPr>
              <a:t>視窗尺寸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3337560"/>
            <a:ext cx="1874519" cy="80467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4600" y="3374136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0E0FF"/>
                </a:solidFill>
                <a:latin typeface="Calibri"/>
              </a:rPr>
              <a:t>480×560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81304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8B0"/>
                </a:solidFill>
                <a:latin typeface="Calibri"/>
              </a:rPr>
              <a:t>遊戲區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337560"/>
            <a:ext cx="1874519" cy="80467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3374136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0E0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81304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8B0"/>
                </a:solidFill>
                <a:latin typeface="Calibri"/>
              </a:rPr>
              <a:t>可選角色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3337560"/>
            <a:ext cx="1874519" cy="80467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3374136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0E0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81304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98B0"/>
                </a:solidFill>
                <a:latin typeface="Calibri"/>
              </a:rPr>
              <a:t>難度級別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01  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專案動機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8412480" cy="74980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1444752"/>
            <a:ext cx="292608" cy="292608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EAF0F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426464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F0F8"/>
                </a:solidFill>
                <a:latin typeface="Calibri"/>
              </a:rPr>
              <a:t>遊戲介面的技術挑戰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6420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8B0"/>
                </a:solidFill>
                <a:latin typeface="Calibri"/>
              </a:rPr>
              <a:t>彈幕遊戲需在 1/60 秒內完成渲染數百顆子彈＋HUD，單純美觀不夠，必須同時兼顧效能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8412480" cy="74980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2322576"/>
            <a:ext cx="292608" cy="292608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EAF0F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04288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F0F8"/>
                </a:solidFill>
                <a:latin typeface="Calibri"/>
              </a:rPr>
              <a:t>純 Java 零依賴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542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8B0"/>
                </a:solidFill>
                <a:latin typeface="Calibri"/>
              </a:rPr>
              <a:t>不使用任何遊戲引擎或 UI 框架，僅靠 Java Swing 與 Graphics2D 從零打造完整遊戲視覺系統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45536"/>
            <a:ext cx="8412480" cy="74980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920" y="3200400"/>
            <a:ext cx="292608" cy="292608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EAF0F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18211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F0F8"/>
                </a:solidFill>
                <a:latin typeface="Calibri"/>
              </a:rPr>
              <a:t>資訊視覺化設計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1985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8B0"/>
                </a:solidFill>
                <a:latin typeface="Calibri"/>
              </a:rPr>
              <a:t>高密度彈幕戰場中，玩家需即時判讀分數、生命、等級等資訊——色彩、佈局、動畫缺一不可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4078224"/>
            <a:ext cx="292608" cy="292608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7822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EAF0F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059936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F0F8"/>
                </a:solidFill>
                <a:latin typeface="Calibri"/>
              </a:rPr>
              <a:t>無障礙與可玩性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9768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8B0"/>
                </a:solidFill>
                <a:latin typeface="Calibri"/>
              </a:rPr>
              <a:t>對比度符合 WCAG AA、色彩搭配圖示、全鍵盤操作，確保不同玩家都能順暢遊玩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98B0"/>
                </a:solidFill>
                <a:latin typeface="Calibri"/>
              </a:rPr>
              <a:t>目標：以最少依賴達成最佳視覺體驗——介面是遊戲玩法的延伸，不是裝飾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02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系統架構：視窗佈局與座標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4389120" cy="3566160"/>
          </a:xfrm>
          <a:prstGeom prst="rect">
            <a:avLst/>
          </a:prstGeom>
          <a:solidFill>
            <a:srgbClr val="080C20"/>
          </a:solidFill>
          <a:ln w="6350">
            <a:solidFill>
              <a:srgbClr val="4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99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E0FF"/>
                </a:solidFill>
                <a:latin typeface="Calibri"/>
              </a:rPr>
              <a:t>800×600 視窗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764" y="1420977"/>
            <a:ext cx="2633472" cy="3328416"/>
          </a:xfrm>
          <a:prstGeom prst="rect">
            <a:avLst/>
          </a:prstGeom>
          <a:solidFill>
            <a:srgbClr val="051025"/>
          </a:solidFill>
          <a:ln w="6350">
            <a:solidFill>
              <a:srgbClr val="4D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4204" y="1558137"/>
            <a:ext cx="24505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FF8C"/>
                </a:solidFill>
                <a:latin typeface="Calibri"/>
              </a:rPr>
              <a:t>遊戲區
480×560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" y="2061057"/>
            <a:ext cx="2450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起點 (32, 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" y="2335377"/>
            <a:ext cx="2450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雙重緩衝渲染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" y="2609697"/>
            <a:ext cx="2450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150 顆動態星背景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1801" y="1420977"/>
            <a:ext cx="1358798" cy="3328416"/>
          </a:xfrm>
          <a:prstGeom prst="rect">
            <a:avLst/>
          </a:prstGeom>
          <a:solidFill>
            <a:srgbClr val="0A1228"/>
          </a:solidFill>
          <a:ln w="63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87521" y="1558137"/>
            <a:ext cx="12673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HUD
面板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4953" y="2106777"/>
            <a:ext cx="1249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AF0F8"/>
                </a:solidFill>
                <a:latin typeface="Calibri"/>
              </a:rPr>
              <a:t>分數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4953" y="2545689"/>
            <a:ext cx="1249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AF0F8"/>
                </a:solidFill>
                <a:latin typeface="Calibri"/>
              </a:rPr>
              <a:t>炸彈 BOMBS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953" y="2984601"/>
            <a:ext cx="1249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AF0F8"/>
                </a:solidFill>
                <a:latin typeface="Calibri"/>
              </a:rPr>
              <a:t>生命 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4953" y="3423513"/>
            <a:ext cx="1249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AF0F8"/>
                </a:solidFill>
                <a:latin typeface="Calibri"/>
              </a:rPr>
              <a:t>等級 LV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4953" y="3862425"/>
            <a:ext cx="1249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AF0F8"/>
                </a:solidFill>
                <a:latin typeface="Calibri"/>
              </a:rPr>
              <a:t>EXP 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4953" y="4301337"/>
            <a:ext cx="1249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AF0F8"/>
                </a:solidFill>
                <a:latin typeface="Calibri"/>
              </a:rPr>
              <a:t>技能 ×5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1389888"/>
            <a:ext cx="3794760" cy="58521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74920" y="1536192"/>
            <a:ext cx="256032" cy="256032"/>
          </a:xfrm>
          <a:prstGeom prst="ellipse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40680" y="14630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E0FF"/>
                </a:solidFill>
                <a:latin typeface="Calibri"/>
              </a:rPr>
              <a:t>視窗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17007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98B0"/>
                </a:solidFill>
                <a:latin typeface="Calibri"/>
              </a:rPr>
              <a:t>800×600 固定大小，以 Insets 計算內部可用區域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2103120"/>
            <a:ext cx="3794760" cy="58521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74920" y="2249424"/>
            <a:ext cx="256032" cy="256032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40680" y="217627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FF8C"/>
                </a:solidFill>
                <a:latin typeface="Calibri"/>
              </a:rPr>
              <a:t>遊戲區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414015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98B0"/>
                </a:solidFill>
                <a:latin typeface="Calibri"/>
              </a:rPr>
              <a:t>GamePanel.FIELD_X/Y/W/H 常數定義，方便全域引用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2816352"/>
            <a:ext cx="3794760" cy="58521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74920" y="2962656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40680" y="288950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HUD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12724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98B0"/>
                </a:solidFill>
                <a:latin typeface="Calibri"/>
              </a:rPr>
              <a:t>HUD_X = FIELD_X + FIELD_W + 16 = 544，動態計算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80" y="3529584"/>
            <a:ext cx="3794760" cy="58521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74920" y="3675887"/>
            <a:ext cx="256032" cy="256032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40680" y="36027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BFF"/>
                </a:solidFill>
                <a:latin typeface="Calibri"/>
              </a:rPr>
              <a:t>渲染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384048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98B0"/>
                </a:solidFill>
                <a:latin typeface="Calibri"/>
              </a:rPr>
              <a:t>BufferedImage 離螢幕緩衝→一次 drawImage，消除撕裂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4242816"/>
            <a:ext cx="3794760" cy="58521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074920" y="4389120"/>
            <a:ext cx="256032" cy="25603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40680" y="43159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7DFF"/>
                </a:solidFill>
                <a:latin typeface="Calibri"/>
              </a:rPr>
              <a:t>計時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455371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98B0"/>
                </a:solidFill>
                <a:latin typeface="Calibri"/>
              </a:rPr>
              <a:t>javax.swing.Timer 每 16ms 觸發 actionPerformed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02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UI 狀態機與畫面流程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2651760" cy="135331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2432304" cy="475488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81328"/>
            <a:ext cx="24323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996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F0F8"/>
                </a:solidFill>
                <a:latin typeface="Calibri"/>
              </a:rPr>
              <a:t>開始畫面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408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標題動畫 + 星場背景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89888"/>
            <a:ext cx="2651760" cy="135331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55848" y="1481328"/>
            <a:ext cx="2432304" cy="475488"/>
          </a:xfrm>
          <a:prstGeom prst="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481328"/>
            <a:ext cx="24323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CHAR
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02996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F0F8"/>
                </a:solidFill>
                <a:latin typeface="Calibri"/>
              </a:rPr>
              <a:t>角色選擇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3408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2 角色卡片對比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89888"/>
            <a:ext cx="2651760" cy="135331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8" y="1481328"/>
            <a:ext cx="2432304" cy="47548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6208" y="1481328"/>
            <a:ext cx="24323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DIFF
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2996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F0F8"/>
                </a:solidFill>
                <a:latin typeface="Calibri"/>
              </a:rPr>
              <a:t>難度選擇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408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4 級難度色卡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2651760" cy="135331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488" y="3108960"/>
            <a:ext cx="2432304" cy="475488"/>
          </a:xfrm>
          <a:prstGeom prst="rect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3108960"/>
            <a:ext cx="24323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PLAYING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F0F8"/>
                </a:solidFill>
                <a:latin typeface="Calibri"/>
              </a:rPr>
              <a:t>遊戲進行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684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即時 HUD 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017520"/>
            <a:ext cx="2651760" cy="135331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55848" y="3108960"/>
            <a:ext cx="2432304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8" y="3108960"/>
            <a:ext cx="24323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PAUSED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36576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F0F8"/>
                </a:solidFill>
                <a:latin typeface="Calibri"/>
              </a:rPr>
              <a:t>暫停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39684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半透明遮罩 + 選單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017520"/>
            <a:ext cx="2651760" cy="1353312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36208" y="3108960"/>
            <a:ext cx="2432304" cy="47548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6208" y="3108960"/>
            <a:ext cx="24323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GAME
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6576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F0F8"/>
                </a:solidFill>
                <a:latin typeface="Calibri"/>
              </a:rPr>
              <a:t>結束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9684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統計面板 / 重試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2066543"/>
            <a:ext cx="228600" cy="18288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97880" y="2066543"/>
            <a:ext cx="228600" cy="18288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682496" y="2743200"/>
            <a:ext cx="18288" cy="274320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62856" y="2743200"/>
            <a:ext cx="18288" cy="274320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43216" y="2743200"/>
            <a:ext cx="18288" cy="274320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098B0"/>
                </a:solidFill>
                <a:latin typeface="Calibri"/>
              </a:rPr>
              <a:t>每個狀態擁有獨立的 render() 與 handleInput()；狀態轉換以 GameState enum 管理，淡入/淡出過場約 0.3 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核心渲染技術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251960" cy="102412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9184" cy="329184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Java Swing / JPanel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55648"/>
            <a:ext cx="3657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繼承 JPanel，覆寫 paintComponent()；KeyListener 處理輸入。Swing 提供跨平台的事件驅動視窗系統。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89888"/>
            <a:ext cx="4251960" cy="102412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892040" y="1481328"/>
            <a:ext cx="329184" cy="329184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12664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雙重緩衝 Double Buffering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1755648"/>
            <a:ext cx="3657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每幀先將全畫面繪入 BufferedImage（離螢幕），再一次貼至螢幕，徹底消除畫面閃爍與撕裂。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78608"/>
            <a:ext cx="4251960" cy="102412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" y="2670048"/>
            <a:ext cx="329184" cy="329184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Graphics2D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944368"/>
            <a:ext cx="3657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提供抗鋸齒（RenderingHints）、半透明（AlphaComposite）、座標變換（rotate/translate）等向量繪圖能力。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578608"/>
            <a:ext cx="4251960" cy="102412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92040" y="2670048"/>
            <a:ext cx="329184" cy="32918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2664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javax.swing.Timer 主迴圈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944368"/>
            <a:ext cx="3657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每 16ms 觸發 actionPerformed()，依序執行 update()→render()，達成穩定 60 FPS 的遊戲主迴圈。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67328"/>
            <a:ext cx="4251960" cy="102412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7200" y="3858768"/>
            <a:ext cx="329184" cy="329184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色彩編碼系統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133088"/>
            <a:ext cx="3657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紅色=危險、綠色=收益、藍色=資訊、金色=分數。色彩本身即資訊，玩家無需閱讀文字即可反應。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767328"/>
            <a:ext cx="4251960" cy="1024128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92040" y="3858768"/>
            <a:ext cx="329184" cy="329184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12664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粒子系統 Particle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2664" y="4133088"/>
            <a:ext cx="3657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擊殺敵人時產生爆炸粒子，每顆粒子有獨立速度、壽命、縮放，純 Java 2D 繪製，無外部函式庫。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HUD 設計、角色與難度系統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4160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E0FF"/>
                </a:solidFill>
                <a:latin typeface="Calibri"/>
              </a:rPr>
              <a:t>右側 HUD 面板（8 元素）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810512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7830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分數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1783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大字金色，即時更新，最高優先級資訊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22576"/>
            <a:ext cx="256032" cy="256032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295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  <a:latin typeface="Calibri"/>
              </a:rPr>
              <a:t>炸彈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295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圖示＋數字，庫存一目了然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834640"/>
            <a:ext cx="256032" cy="256032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807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FF8C"/>
                </a:solidFill>
                <a:latin typeface="Calibri"/>
              </a:rPr>
              <a:t>生命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807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綠色條形進度，剩餘生命數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346704"/>
            <a:ext cx="256032" cy="256032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19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BFF"/>
                </a:solidFill>
                <a:latin typeface="Calibri"/>
              </a:rPr>
              <a:t>等級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3192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EXP 驅動成長指標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858768"/>
            <a:ext cx="256032" cy="25603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8313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7DFF"/>
                </a:solidFill>
                <a:latin typeface="Calibri"/>
              </a:rPr>
              <a:t>EXP 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38313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紫色升級進度條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370832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343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alibri"/>
              </a:rPr>
              <a:t>技能×5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43434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射速/射頻/生命/炸彈/刷掠，0-5 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389888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E0FF"/>
                </a:solidFill>
                <a:latin typeface="Calibri"/>
              </a:rPr>
              <a:t>難度系統（4 級多維度調整）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1755648"/>
            <a:ext cx="914400" cy="329184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17556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A18"/>
                </a:solidFill>
                <a:latin typeface="Calibri"/>
              </a:rPr>
              <a:t>難度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1755648"/>
            <a:ext cx="822960" cy="329184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06440" y="175564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A18"/>
                </a:solidFill>
                <a:latin typeface="Calibri"/>
              </a:rPr>
              <a:t>子彈速度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55648"/>
            <a:ext cx="914400" cy="329184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17556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A18"/>
                </a:solidFill>
                <a:latin typeface="Calibri"/>
              </a:rPr>
              <a:t>每波數量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1755648"/>
            <a:ext cx="1143000" cy="329184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40" y="175564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A18"/>
                </a:solidFill>
                <a:latin typeface="Calibri"/>
              </a:rPr>
              <a:t>敵人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2121408"/>
            <a:ext cx="9144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2121408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C864"/>
                </a:solidFill>
                <a:latin typeface="Calibri"/>
              </a:rPr>
              <a:t>Easy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2121408"/>
            <a:ext cx="82296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06440" y="2121408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0.65×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2121408"/>
            <a:ext cx="9144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0840" y="2121408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6-8 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2121408"/>
            <a:ext cx="11430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35240" y="2121408"/>
            <a:ext cx="1143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緩慢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2633472"/>
            <a:ext cx="9144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00600" y="2633472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96FF"/>
                </a:solidFill>
                <a:latin typeface="Calibri"/>
              </a:rPr>
              <a:t>Normal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2633472"/>
            <a:ext cx="82296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06440" y="263347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0.78×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0840" y="2633472"/>
            <a:ext cx="9144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20840" y="2633472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7-9 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2633472"/>
            <a:ext cx="11430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2633472"/>
            <a:ext cx="1143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標準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600" y="3145536"/>
            <a:ext cx="9144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00600" y="3145536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632"/>
                </a:solidFill>
                <a:latin typeface="Calibri"/>
              </a:rPr>
              <a:t>Hard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3145536"/>
            <a:ext cx="82296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06440" y="3145536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0.91×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3145536"/>
            <a:ext cx="9144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20840" y="3145536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8-10 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35240" y="3145536"/>
            <a:ext cx="11430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35240" y="3145536"/>
            <a:ext cx="1143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激進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3657600"/>
            <a:ext cx="9144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00600" y="3657600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232"/>
                </a:solidFill>
                <a:latin typeface="Calibri"/>
              </a:rPr>
              <a:t>Lunatic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3657600"/>
            <a:ext cx="82296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806440" y="3657600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1.04×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0840" y="3657600"/>
            <a:ext cx="9144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720840" y="3657600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10-12 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35240" y="3657600"/>
            <a:ext cx="1143000" cy="420624"/>
          </a:xfrm>
          <a:prstGeom prst="rect">
            <a:avLst/>
          </a:prstGeom>
          <a:solidFill>
            <a:srgbClr val="10152B"/>
          </a:solidFill>
          <a:ln w="6350">
            <a:solidFill>
              <a:srgbClr val="20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635240" y="3657600"/>
            <a:ext cx="1143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F0F8"/>
                </a:solidFill>
                <a:latin typeface="Calibri"/>
              </a:rPr>
              <a:t>全速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420624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098B0"/>
                </a:solidFill>
                <a:latin typeface="Calibri"/>
              </a:rPr>
              <a:t>速度公式：speedMult = (1.0 + difficulty × 0.2) × 0.65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04 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實驗結果：渲染效能與可用性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160520" cy="76809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64008" cy="768096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26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幀率穩定度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D7"/>
                </a:solidFill>
                <a:latin typeface="Calibri"/>
              </a:rPr>
              <a:t>60 FPS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7510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誤差 ±1%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4160520" cy="76809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64008" cy="768096"/>
          </a:xfrm>
          <a:prstGeom prst="rect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3225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HUD 渲染成本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DFF8C"/>
                </a:solidFill>
                <a:latin typeface="Calibri"/>
              </a:rPr>
              <a:t>&lt; 0.2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712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每幀 HUD 重繪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82112"/>
            <a:ext cx="4160520" cy="76809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182112"/>
            <a:ext cx="64008" cy="768096"/>
          </a:xfrm>
          <a:prstGeom prst="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文字對比度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564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BFF"/>
                </a:solidFill>
                <a:latin typeface="Calibri"/>
              </a:rPr>
              <a:t>≥ 4.5:1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WCAG AA 達標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78224"/>
            <a:ext cx="4160520" cy="768096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078224"/>
            <a:ext cx="64008" cy="76809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記憶體占用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525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&lt; 80 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98B0"/>
                </a:solidFill>
                <a:latin typeface="Calibri"/>
              </a:rPr>
              <a:t>物件複用低記憶體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389888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F0F8"/>
                </a:solidFill>
                <a:latin typeface="Calibri"/>
              </a:rPr>
              <a:t>幀率穩定性（60 秒遊戲測試）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680385"/>
              </p:ext>
            </p:extLst>
          </p:nvPr>
        </p:nvGraphicFramePr>
        <p:xfrm>
          <a:off x="4663440" y="173736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709160" y="3749039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可用性測試摘要</a:t>
            </a:r>
          </a:p>
        </p:txBody>
      </p:sp>
      <p:sp>
        <p:nvSpPr>
          <p:cNvPr id="28" name="Oval 27"/>
          <p:cNvSpPr/>
          <p:nvPr/>
        </p:nvSpPr>
        <p:spPr>
          <a:xfrm>
            <a:off x="4754880" y="4096512"/>
            <a:ext cx="137160" cy="137160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4059936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新玩家 30 秒內看懂 HUD 佈局</a:t>
            </a:r>
          </a:p>
        </p:txBody>
      </p:sp>
      <p:sp>
        <p:nvSpPr>
          <p:cNvPr id="30" name="Oval 29"/>
          <p:cNvSpPr/>
          <p:nvPr/>
        </p:nvSpPr>
        <p:spPr>
          <a:xfrm>
            <a:off x="4754880" y="4343400"/>
            <a:ext cx="137160" cy="137160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4306824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色彩編碼降低資訊誤判率</a:t>
            </a:r>
          </a:p>
        </p:txBody>
      </p:sp>
      <p:sp>
        <p:nvSpPr>
          <p:cNvPr id="32" name="Oval 31"/>
          <p:cNvSpPr/>
          <p:nvPr/>
        </p:nvSpPr>
        <p:spPr>
          <a:xfrm>
            <a:off x="4754880" y="4590288"/>
            <a:ext cx="137160" cy="137160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4553712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全鍵盤操作，無需滑鼠</a:t>
            </a:r>
          </a:p>
        </p:txBody>
      </p:sp>
      <p:sp>
        <p:nvSpPr>
          <p:cNvPr id="34" name="Oval 33"/>
          <p:cNvSpPr/>
          <p:nvPr/>
        </p:nvSpPr>
        <p:spPr>
          <a:xfrm>
            <a:off x="4754880" y="4837176"/>
            <a:ext cx="137160" cy="137160"/>
          </a:xfrm>
          <a:prstGeom prst="ellipse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480060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F0F8"/>
                </a:solidFill>
                <a:latin typeface="Calibri"/>
              </a:rPr>
              <a:t>深色主題長時間護眼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05 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F0F8"/>
                </a:solidFill>
                <a:latin typeface="Calibri"/>
              </a:rPr>
              <a:t>未來改進方向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2788920" cy="3429000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2606040" cy="438912"/>
          </a:xfrm>
          <a:prstGeom prst="rect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短期  Short-term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75688"/>
            <a:ext cx="201168" cy="201168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設定選單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音量 / 解析度 / 按鍵自訂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90088"/>
            <a:ext cx="201168" cy="201168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暫停選單強化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重開 / 設定 / 離開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04488"/>
            <a:ext cx="201168" cy="201168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HUD 主題切換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色盤一鍵切換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1389888"/>
            <a:ext cx="2788920" cy="3429000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1568" y="1481328"/>
            <a:ext cx="2606040" cy="438912"/>
          </a:xfrm>
          <a:prstGeom prst="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1568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中期  Mid-term</a:t>
            </a:r>
          </a:p>
        </p:txBody>
      </p:sp>
      <p:sp>
        <p:nvSpPr>
          <p:cNvPr id="20" name="Oval 19"/>
          <p:cNvSpPr/>
          <p:nvPr/>
        </p:nvSpPr>
        <p:spPr>
          <a:xfrm>
            <a:off x="3493008" y="2075688"/>
            <a:ext cx="201168" cy="201168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85616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手把支援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6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XInput / DirectInput 整合</a:t>
            </a:r>
          </a:p>
        </p:txBody>
      </p:sp>
      <p:sp>
        <p:nvSpPr>
          <p:cNvPr id="23" name="Oval 22"/>
          <p:cNvSpPr/>
          <p:nvPr/>
        </p:nvSpPr>
        <p:spPr>
          <a:xfrm>
            <a:off x="3493008" y="2990088"/>
            <a:ext cx="201168" cy="201168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85616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成就系統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6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結算畫面資料視覺化</a:t>
            </a:r>
          </a:p>
        </p:txBody>
      </p:sp>
      <p:sp>
        <p:nvSpPr>
          <p:cNvPr id="26" name="Oval 25"/>
          <p:cNvSpPr/>
          <p:nvPr/>
        </p:nvSpPr>
        <p:spPr>
          <a:xfrm>
            <a:off x="3493008" y="3904488"/>
            <a:ext cx="201168" cy="201168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85616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更多角色皮膚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5616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外觀與屬性雙重擴充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1389888"/>
            <a:ext cx="2788920" cy="3429000"/>
          </a:xfrm>
          <a:prstGeom prst="rect">
            <a:avLst/>
          </a:prstGeom>
          <a:solidFill>
            <a:srgbClr val="10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45936" y="1481328"/>
            <a:ext cx="2606040" cy="438912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45936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8"/>
                </a:solidFill>
                <a:latin typeface="Calibri"/>
              </a:rPr>
              <a:t>長期  Long-term</a:t>
            </a:r>
          </a:p>
        </p:txBody>
      </p:sp>
      <p:sp>
        <p:nvSpPr>
          <p:cNvPr id="32" name="Oval 31"/>
          <p:cNvSpPr/>
          <p:nvPr/>
        </p:nvSpPr>
        <p:spPr>
          <a:xfrm>
            <a:off x="6437376" y="20756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9984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行動版觸控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虛擬搖桿與按鈕</a:t>
            </a:r>
          </a:p>
        </p:txBody>
      </p:sp>
      <p:sp>
        <p:nvSpPr>
          <p:cNvPr id="35" name="Oval 34"/>
          <p:cNvSpPr/>
          <p:nvPr/>
        </p:nvSpPr>
        <p:spPr>
          <a:xfrm>
            <a:off x="6437376" y="29900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線上排行榜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即時分數比較介面</a:t>
            </a:r>
          </a:p>
        </p:txBody>
      </p:sp>
      <p:sp>
        <p:nvSpPr>
          <p:cNvPr id="38" name="Oval 37"/>
          <p:cNvSpPr/>
          <p:nvPr/>
        </p:nvSpPr>
        <p:spPr>
          <a:xfrm>
            <a:off x="6437376" y="39044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F0F8"/>
                </a:solidFill>
                <a:latin typeface="Calibri"/>
              </a:rPr>
              <a:t>可自訂 HUD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玩家拖曳排版佈局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02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F0F8"/>
                </a:solidFill>
                <a:latin typeface="Calibri"/>
              </a:rPr>
              <a:t>遊戲實機畫面：完整視窗佈局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E0FF"/>
                </a:solidFill>
                <a:latin typeface="Calibri"/>
              </a:rPr>
              <a:t>左側 480×560 遊戲戰場 + 右側 HUD 面板，以 Java Swing 雙重緩衝即時渲染。</a:t>
            </a:r>
          </a:p>
        </p:txBody>
      </p:sp>
      <p:pic>
        <p:nvPicPr>
          <p:cNvPr id="6" name="Picture 5" descr="gui_01_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6192"/>
            <a:ext cx="6400800" cy="4800600"/>
          </a:xfrm>
          <a:prstGeom prst="rect">
            <a:avLst/>
          </a:prstGeom>
        </p:spPr>
      </p:pic>
      <p:pic>
        <p:nvPicPr>
          <p:cNvPr id="7" name="Picture 6" descr="gui_03_char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1536192"/>
            <a:ext cx="2148840" cy="16116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31152" y="3184398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E0FF"/>
                </a:solidFill>
                <a:latin typeface="Calibri"/>
              </a:rPr>
              <a:t>角色選擇</a:t>
            </a:r>
          </a:p>
        </p:txBody>
      </p:sp>
      <p:pic>
        <p:nvPicPr>
          <p:cNvPr id="9" name="Picture 8" descr="gui_04_diffsel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3458718"/>
            <a:ext cx="2148840" cy="16116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31152" y="5106924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E0FF"/>
                </a:solidFill>
                <a:latin typeface="Calibri"/>
              </a:rPr>
              <a:t>難度選擇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98B0"/>
                </a:solidFill>
                <a:latin typeface="Calibri"/>
              </a:rPr>
              <a:t>遊戲區邊框：綠色 (32,16) 480×560  ·  HUD 面板邊框：藍色 x=544  ·  背景：150 顆動態星星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solidFill>
            <a:srgbClr val="00C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F0F8"/>
                </a:solidFill>
                <a:latin typeface="Calibri"/>
              </a:rPr>
              <a:t>遊戲實機畫面：HUD 特寫與角色系統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E0FF"/>
                </a:solidFill>
                <a:latin typeface="Calibri"/>
              </a:rPr>
              <a:t>左：HUD 右側面板放大（全 8 個元素）；右：角色選擇實機截圖（Aurora Striker 選中狀態）。</a:t>
            </a:r>
          </a:p>
        </p:txBody>
      </p:sp>
      <p:pic>
        <p:nvPicPr>
          <p:cNvPr id="6" name="Picture 5" descr="gui_02_h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6192"/>
            <a:ext cx="4023360" cy="40233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590288" y="1627632"/>
            <a:ext cx="164592" cy="16459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2" y="159105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F0F8"/>
                </a:solidFill>
                <a:latin typeface="Calibri"/>
              </a:rPr>
              <a:t>HIGH SCORE /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1828800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金色分數顯示，玩家最重要資訊</a:t>
            </a:r>
          </a:p>
        </p:txBody>
      </p:sp>
      <p:sp>
        <p:nvSpPr>
          <p:cNvPr id="10" name="Oval 9"/>
          <p:cNvSpPr/>
          <p:nvPr/>
        </p:nvSpPr>
        <p:spPr>
          <a:xfrm>
            <a:off x="4590288" y="2340864"/>
            <a:ext cx="164592" cy="164592"/>
          </a:xfrm>
          <a:prstGeom prst="ellipse">
            <a:avLst/>
          </a:prstGeom>
          <a:solidFill>
            <a:srgbClr val="4D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30428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F0F8"/>
                </a:solidFill>
                <a:latin typeface="Calibri"/>
              </a:rPr>
              <a:t>HEALTH 生命值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542032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綠色愛心×3，剩餘生命一目了然</a:t>
            </a:r>
          </a:p>
        </p:txBody>
      </p:sp>
      <p:sp>
        <p:nvSpPr>
          <p:cNvPr id="13" name="Oval 12"/>
          <p:cNvSpPr/>
          <p:nvPr/>
        </p:nvSpPr>
        <p:spPr>
          <a:xfrm>
            <a:off x="4590288" y="3054096"/>
            <a:ext cx="164592" cy="164592"/>
          </a:xfrm>
          <a:prstGeom prst="ellipse">
            <a:avLst/>
          </a:prstGeom>
          <a:solidFill>
            <a:srgbClr val="4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F0F8"/>
                </a:solidFill>
                <a:latin typeface="Calibri"/>
              </a:rPr>
              <a:t>BOMBS 炸彈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255264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橘色圖示，庫存即時更新</a:t>
            </a:r>
          </a:p>
        </p:txBody>
      </p:sp>
      <p:sp>
        <p:nvSpPr>
          <p:cNvPr id="16" name="Oval 15"/>
          <p:cNvSpPr/>
          <p:nvPr/>
        </p:nvSpPr>
        <p:spPr>
          <a:xfrm>
            <a:off x="4590288" y="3767327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3730751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F0F8"/>
                </a:solidFill>
                <a:latin typeface="Calibri"/>
              </a:rPr>
              <a:t>LV + EXP 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968496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等級 07、紫色升級進度條 68%</a:t>
            </a:r>
          </a:p>
        </p:txBody>
      </p:sp>
      <p:sp>
        <p:nvSpPr>
          <p:cNvPr id="19" name="Oval 18"/>
          <p:cNvSpPr/>
          <p:nvPr/>
        </p:nvSpPr>
        <p:spPr>
          <a:xfrm>
            <a:off x="4590288" y="4480559"/>
            <a:ext cx="164592" cy="164592"/>
          </a:xfrm>
          <a:prstGeom prst="ellipse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4443983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F0F8"/>
                </a:solidFill>
                <a:latin typeface="Calibri"/>
              </a:rPr>
              <a:t>SKILLS ×5 技能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4681728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8B0"/>
                </a:solidFill>
                <a:latin typeface="Calibri"/>
              </a:rPr>
              <a:t>5 種技能各顯示 0–5 顆星</a:t>
            </a:r>
          </a:p>
        </p:txBody>
      </p:sp>
      <p:pic>
        <p:nvPicPr>
          <p:cNvPr id="22" name="Picture 21" descr="gui_03_char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5175504"/>
            <a:ext cx="402336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90288" y="822959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98B0"/>
                </a:solidFill>
                <a:latin typeface="Calibri"/>
              </a:rPr>
              <a:t>角色選擇：Aurora Striker（金框選中）vs Chronos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543</Words>
  <Application>Microsoft Office PowerPoint</Application>
  <PresentationFormat>如螢幕大小 (16:9)</PresentationFormat>
  <Paragraphs>167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翁 祺展</cp:lastModifiedBy>
  <cp:revision>3</cp:revision>
  <dcterms:created xsi:type="dcterms:W3CDTF">2013-01-27T09:14:16Z</dcterms:created>
  <dcterms:modified xsi:type="dcterms:W3CDTF">2026-06-15T16:56:16Z</dcterms:modified>
  <cp:category/>
</cp:coreProperties>
</file>